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7373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AI-Augmented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 Workshop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autocomplete to delegatable specialist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" y="4023360"/>
            <a:ext cx="4572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 ·  Hands-on  ·  ~3 hours  ·  Engineering Team Leads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Mindset Shift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36576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80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645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writes code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suggests autocomplete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Developer accepts/rejects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691640"/>
            <a:ext cx="411480" cy="411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754880" y="1097280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09728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1280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0" y="16459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sets up the system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Engineer describes the problem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executes with team standards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Engineer reviews &amp; approves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31520" y="3108960"/>
            <a:ext cx="7680960" cy="1463040"/>
          </a:xfrm>
          <a:prstGeom prst="rect">
            <a:avLst/>
          </a:prstGeom>
          <a:solidFill>
            <a:srgbClr val="1E293B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38328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097280" y="3794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not a typing assistant. It is a junior team member that follows your standards, uses your tools, and gets better the more structure you give it.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You'll Walk Away With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17043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05156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Understood the 6 pillars of agentic AI tooling and how they compose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178308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178308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0195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178308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each pillar hands-on with concrete C# / TypeScript examples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31520" y="251460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31520" y="251460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633472"/>
            <a:ext cx="347472" cy="34747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0" y="25146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working skill for your team — not a concept, a real artifact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31520" y="324612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31520" y="324612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364992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32461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the AI workflow your engineers will actually use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731520" y="397764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31520" y="397764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096512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397764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a playbook for rolling this out to your engineering team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60120"/>
          <a:ext cx="7680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5120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demo: work item → merged 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&amp; Commands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Files + Indexing 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 — Why, What, In 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Choices (MCP vs CLI Skill)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— Pipeline Example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Capstone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+ Build a Skill Together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Rollout playbook + Q&amp;A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~3 hours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Opening: The Vision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work item → merged PR in one terminal session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32588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work item from ADO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344168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Text 7"/>
          <p:cNvSpPr/>
          <p:nvPr/>
        </p:nvSpPr>
        <p:spPr>
          <a:xfrm>
            <a:off x="4983480" y="1344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"Show me work item #576684"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1901952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63040" y="185623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approach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46320" y="1874520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8745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 &lt;feature&gt;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2432304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2386584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specialist agent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2404872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4048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/agent csharp-reviewer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" y="2962656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2962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63040" y="291693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with skill standards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46320" y="2935224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4" name="Text 22"/>
          <p:cNvSpPr/>
          <p:nvPr/>
        </p:nvSpPr>
        <p:spPr>
          <a:xfrm>
            <a:off x="4983480" y="29352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(auto-triggers)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3493008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493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63040" y="344728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46320" y="3465576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346557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14400" y="402336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63040" y="39776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46320" y="3995928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4" name="Text 32"/>
          <p:cNvSpPr/>
          <p:nvPr/>
        </p:nvSpPr>
        <p:spPr>
          <a:xfrm>
            <a:off x="4983480" y="3995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 create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31520" y="4526280"/>
            <a:ext cx="7680960" cy="5029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45262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"Your engineers don't need to learn prompts. They need you to set up the system."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&amp; Commands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talk to AI and direct it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7490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63040"/>
            <a:ext cx="64008" cy="2743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92024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@file.cs, @folder/ — load real context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/plan — think before coding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/review — check before committing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/research — understand before building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auto-save &amp; resume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3749040" cy="2743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1965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@BooksController.cs What does GetByAuthor do?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"Partial names return no results. Debug."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/plan Fix GetByAuthor search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/context</a:t>
            </a:r>
            <a:endParaRPr lang="en-US" sz="11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43484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4434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context + specific symptoms → specific answers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Instruction Files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rules for every session — the team lead multiplier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463040"/>
            <a:ext cx="64008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0876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write your coding standards once in AGENTS.md. Every session in your repo follows them — for new hires, contractors, and senior engineers alike."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at repo root = always-on for every session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generates a starter file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needs to invoke it — automatic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team standards without policing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0" y="2606040"/>
            <a:ext cx="3383280" cy="1645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212080" y="29718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/init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Edit AGENTS.md: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"C# backend: use nullable refs"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"TS frontend: strict mode always"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"Conventional commits required"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@BooksController.cs Review this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43484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4434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Highest-leverage thing a team lead can set up. 5 min of writing, permanent impact.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 (cont.)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Scaling with the Indexing Pattern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projects: AGENTS.md as the table of contents, docs/ as the detail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657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AGENTS.md can't capture everything about a real project — architecture, API conventions, deployment, security, domain logic.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971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32461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becomes an index — a short file that points to detailed docs in docs/. AI loads the index always, detail docs only when needed.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3749040" cy="30175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STRUCTURE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92040" y="17830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your-repo/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(index → points to docs)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docs/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architecture.md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csharp-conventions.md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typescript-style.md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api-design.md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deployment.md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src/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...</a:t>
            </a:r>
            <a:endParaRPr lang="en-US" sz="11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AGENTS.md short. Let it point. Detail docs stay discoverable but don't bloat context.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specialists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PROMPT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@BooksController.cs"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Broad, generic suggestions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 team conventions applied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AGENT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/agent csharp-reviewer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@BooksController.cs"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Nullable checks, async/await,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dependency injection patterns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15468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154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files set the floor.  Agents raise the ceiling.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3794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OWN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4069080"/>
            <a:ext cx="7680960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11480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.github/agents/csharp-reviewer.agent.md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"Reviews C# for team conventions"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Enforces nullable refs, async patterns, DI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Flags: exceptions as control flow, sync-over-async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1 of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Skills?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learn what skills are, let's be clear on what they solve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POINTS TODAY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re-explain team conventions in every session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reviews skip steps when reviewers are busy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runs differently every time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docs go stale while tribal knowledge lives in heads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task, different quality — depends who's on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SKILLS SOLVE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the procedure once, in a markdown file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 when AI detects the task — no invocation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quality every time, for every team member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Version-controlled, reviewable, improvable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Tribal knowledge becomes team infrastructure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66344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97280" y="46634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team does it more than twice — it's probably a skill.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2 of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— What &amp; How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 instructions that auto-trigger on natural language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17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 who the AI is.  Skills change how it does a specific task.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SKILL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4572000" cy="23774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37744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.github/skills/pr-review/SKILL.md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pr-review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"Review a PR for quality"</a:t>
            </a:r>
            <a:endParaRPr lang="en-US" sz="1000" dirty="0"/>
          </a:p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← matched against user's prompt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Steps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Check tests cover the changes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Verify naming conventions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Flag security risks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Check error handling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77840" y="2331720"/>
            <a:ext cx="28346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577840" y="2331720"/>
            <a:ext cx="64008" cy="23774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580644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06440" y="2788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matches your prompt against each skill's description.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0644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triggering prompts: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06440" y="37947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"Review these changes"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"Check the PR for issues"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"Does this look ready to merge?"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3 of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in Action: Code Review Flow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end-to-end: a PR arrives in ADO → review done → output captured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80160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arrives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work item with new changes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148840"/>
            <a:ext cx="155448" cy="15544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304288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852928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1"/>
          <p:cNvSpPr/>
          <p:nvPr/>
        </p:nvSpPr>
        <p:spPr>
          <a:xfrm>
            <a:off x="2852928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395728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context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395728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repos pr show --id 135108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2148840"/>
            <a:ext cx="155448" cy="15544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877056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425696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0" name="Text 16"/>
          <p:cNvSpPr/>
          <p:nvPr/>
        </p:nvSpPr>
        <p:spPr>
          <a:xfrm>
            <a:off x="4425696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968496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triggers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968496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this PR" → pr-review loads</a:t>
            </a:r>
            <a:endParaRPr lang="en-US" sz="9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76" y="2148840"/>
            <a:ext cx="155448" cy="155448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449824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998464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1"/>
          <p:cNvSpPr/>
          <p:nvPr/>
        </p:nvSpPr>
        <p:spPr>
          <a:xfrm>
            <a:off x="5998464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541264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reviews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541264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team conventions</a:t>
            </a:r>
            <a:endParaRPr lang="en-US" sz="9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2148840"/>
            <a:ext cx="155448" cy="15544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022592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71232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2" name="Text 26"/>
          <p:cNvSpPr/>
          <p:nvPr/>
        </p:nvSpPr>
        <p:spPr>
          <a:xfrm>
            <a:off x="7571232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7114032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7114032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PASS/FAIL checklist + fixes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731520" y="352044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731520" y="3520440"/>
            <a:ext cx="64008" cy="7772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703320"/>
            <a:ext cx="365760" cy="365760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63040" y="3611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</a:t>
            </a:r>
            <a:endParaRPr lang="en-US" sz="1000" dirty="0"/>
          </a:p>
        </p:txBody>
      </p:sp>
      <p:sp>
        <p:nvSpPr>
          <p:cNvPr id="39" name="Text 32"/>
          <p:cNvSpPr/>
          <p:nvPr/>
        </p:nvSpPr>
        <p:spPr>
          <a:xfrm>
            <a:off x="1463040" y="3840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az devops CLI doesn't support posting inline PR comments yet. Today: output goes to the terminal — engineer pastes into ADO, or you automate via REST API separately.</a:t>
            </a:r>
            <a:endParaRPr lang="en-US" sz="110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526280"/>
            <a:ext cx="274320" cy="274320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1097280" y="45262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checklist, same output format, every single PR — without anyone remembering it.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Integration Choices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connect AI to Azure DevOps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37160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SKILL (RECOMMENDED)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7830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on-demand — context stays clean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az CLI under the hood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work items, PRs, pipelines, wiki,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releases, artifacts, security/admin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npx skills add ... azure-devops-cli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37160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tools registered at startup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Rich: test plans, code search,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advanced security alerts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context cost — use domains to limit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Microsoft-maintained (@azure-devops/mcp)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97764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977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Skill = occasional ADO during coding  |  MCP = heavy, continuous ADO interaction</a:t>
            </a:r>
            <a:endParaRPr lang="en-US" sz="12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CLI Skill. Graduate to MCP only when the tool surface justifies the context cost.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Automation — In Your Pipeline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runs without you — the bridge from tool to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-p "prompt" — one-shot, no interaction, scriptable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9659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AI-AUGMENTED CI STEP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+ checkout branch</a:t>
            </a:r>
            <a:endParaRPr lang="en-US" sz="9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834640"/>
            <a:ext cx="155448" cy="155448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304288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04288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7" name="Text 14"/>
          <p:cNvSpPr/>
          <p:nvPr/>
        </p:nvSpPr>
        <p:spPr>
          <a:xfrm>
            <a:off x="2304288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04288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350008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-p "Review staged"</a:t>
            </a:r>
            <a:endParaRPr lang="en-US" sz="9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2834640"/>
            <a:ext cx="155448" cy="15544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877056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3877056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3" name="Text 19"/>
          <p:cNvSpPr/>
          <p:nvPr/>
        </p:nvSpPr>
        <p:spPr>
          <a:xfrm>
            <a:off x="3877056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3877056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3922776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changes / annotations</a:t>
            </a:r>
            <a:endParaRPr lang="en-US" sz="9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76" y="2834640"/>
            <a:ext cx="155448" cy="155448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5449824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449824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9" name="Text 24"/>
          <p:cNvSpPr/>
          <p:nvPr/>
        </p:nvSpPr>
        <p:spPr>
          <a:xfrm>
            <a:off x="5449824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5449824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5495544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test / npm test</a:t>
            </a:r>
            <a:endParaRPr lang="en-US" sz="900" dirty="0"/>
          </a:p>
        </p:txBody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2834640"/>
            <a:ext cx="155448" cy="155448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022592" y="2286000"/>
            <a:ext cx="14173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7022592" y="2286000"/>
            <a:ext cx="141732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5" name="Text 29"/>
          <p:cNvSpPr/>
          <p:nvPr/>
        </p:nvSpPr>
        <p:spPr>
          <a:xfrm>
            <a:off x="7022592" y="23774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7022592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7068312" y="28803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or fail the build</a:t>
            </a:r>
            <a:endParaRPr lang="en-US" sz="900" dirty="0"/>
          </a:p>
        </p:txBody>
      </p:sp>
      <p:sp>
        <p:nvSpPr>
          <p:cNvPr id="38" name="Text 32"/>
          <p:cNvSpPr/>
          <p:nvPr/>
        </p:nvSpPr>
        <p:spPr>
          <a:xfrm>
            <a:off x="731520" y="37947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AUTOMATION EXAMPLES</a:t>
            </a:r>
            <a:endParaRPr lang="en-US" sz="1000" dirty="0"/>
          </a:p>
        </p:txBody>
      </p:sp>
      <p:sp>
        <p:nvSpPr>
          <p:cNvPr id="39" name="Shape 33"/>
          <p:cNvSpPr/>
          <p:nvPr/>
        </p:nvSpPr>
        <p:spPr>
          <a:xfrm>
            <a:off x="731520" y="4069080"/>
            <a:ext cx="1828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731520" y="4069080"/>
            <a:ext cx="64008" cy="7315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1" name="Text 35"/>
          <p:cNvSpPr/>
          <p:nvPr/>
        </p:nvSpPr>
        <p:spPr>
          <a:xfrm>
            <a:off x="86868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Messages</a:t>
            </a:r>
            <a:endParaRPr lang="en-US" sz="1100" dirty="0"/>
          </a:p>
        </p:txBody>
      </p:sp>
      <p:sp>
        <p:nvSpPr>
          <p:cNvPr id="42" name="Text 36"/>
          <p:cNvSpPr/>
          <p:nvPr/>
        </p:nvSpPr>
        <p:spPr>
          <a:xfrm>
            <a:off x="8686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-p "..." &lt; diff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2697480" y="4069080"/>
            <a:ext cx="1828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38"/>
          <p:cNvSpPr/>
          <p:nvPr/>
        </p:nvSpPr>
        <p:spPr>
          <a:xfrm>
            <a:off x="2697480" y="4069080"/>
            <a:ext cx="64008" cy="7315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5" name="Text 39"/>
          <p:cNvSpPr/>
          <p:nvPr/>
        </p:nvSpPr>
        <p:spPr>
          <a:xfrm>
            <a:off x="283464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Descriptions</a:t>
            </a:r>
            <a:endParaRPr lang="en-US" sz="1100" dirty="0"/>
          </a:p>
        </p:txBody>
      </p:sp>
      <p:sp>
        <p:nvSpPr>
          <p:cNvPr id="46" name="Text 40"/>
          <p:cNvSpPr/>
          <p:nvPr/>
        </p:nvSpPr>
        <p:spPr>
          <a:xfrm>
            <a:off x="283464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log | copilot -p "..."</a:t>
            </a:r>
            <a:endParaRPr lang="en-US" sz="900" dirty="0"/>
          </a:p>
        </p:txBody>
      </p:sp>
      <p:sp>
        <p:nvSpPr>
          <p:cNvPr id="47" name="Shape 41"/>
          <p:cNvSpPr/>
          <p:nvPr/>
        </p:nvSpPr>
        <p:spPr>
          <a:xfrm>
            <a:off x="4663440" y="4069080"/>
            <a:ext cx="1828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8" name="Shape 42"/>
          <p:cNvSpPr/>
          <p:nvPr/>
        </p:nvSpPr>
        <p:spPr>
          <a:xfrm>
            <a:off x="4663440" y="4069080"/>
            <a:ext cx="64008" cy="7315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9" name="Text 43"/>
          <p:cNvSpPr/>
          <p:nvPr/>
        </p:nvSpPr>
        <p:spPr>
          <a:xfrm>
            <a:off x="480060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Pre-commit Checks</a:t>
            </a:r>
            <a:endParaRPr lang="en-US" sz="1100" dirty="0"/>
          </a:p>
        </p:txBody>
      </p:sp>
      <p:sp>
        <p:nvSpPr>
          <p:cNvPr id="50" name="Text 44"/>
          <p:cNvSpPr/>
          <p:nvPr/>
        </p:nvSpPr>
        <p:spPr>
          <a:xfrm>
            <a:off x="480060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 runs quality skill</a:t>
            </a:r>
            <a:endParaRPr lang="en-US" sz="900" dirty="0"/>
          </a:p>
        </p:txBody>
      </p:sp>
      <p:sp>
        <p:nvSpPr>
          <p:cNvPr id="51" name="Shape 45"/>
          <p:cNvSpPr/>
          <p:nvPr/>
        </p:nvSpPr>
        <p:spPr>
          <a:xfrm>
            <a:off x="6629400" y="4069080"/>
            <a:ext cx="1828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2" name="Shape 46"/>
          <p:cNvSpPr/>
          <p:nvPr/>
        </p:nvSpPr>
        <p:spPr>
          <a:xfrm>
            <a:off x="6629400" y="4069080"/>
            <a:ext cx="64008" cy="7315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3" name="Text 47"/>
          <p:cNvSpPr/>
          <p:nvPr/>
        </p:nvSpPr>
        <p:spPr>
          <a:xfrm>
            <a:off x="676656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Notes</a:t>
            </a:r>
            <a:endParaRPr lang="en-US" sz="1100" dirty="0"/>
          </a:p>
        </p:txBody>
      </p:sp>
      <p:sp>
        <p:nvSpPr>
          <p:cNvPr id="54" name="Text 48"/>
          <p:cNvSpPr/>
          <p:nvPr/>
        </p:nvSpPr>
        <p:spPr>
          <a:xfrm>
            <a:off x="676656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auto-gen from commits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Setup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Let's Work on a Real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60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demo repo. Run it. Everything that follows happens on real code.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4846320" cy="338328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COMMANDS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4663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Clone the demo repo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&lt;demo-repo&gt; &amp;&amp; cd demo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Install dependencies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      # frontend (TS)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restore    # backend (C#)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Authenticate with ADO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 --use-device-code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Start Copilot in the repo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417320"/>
            <a:ext cx="2651760" cy="338328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60020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REAL REPO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0" y="21031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 examples teach concepts.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code teaches judgment.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reads your actual files, your actual conventions, your actual bugs.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 + Build a Skill — Together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  ·  Facilitator-led  ·  You leave with a working artifact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real, working skill in the demo repo — from scratch, together.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end: your repo has a skill that auto-triggers and produces consistent output.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016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task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description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the steps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2900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7" name="Shape 15"/>
          <p:cNvSpPr/>
          <p:nvPr/>
        </p:nvSpPr>
        <p:spPr>
          <a:xfrm>
            <a:off x="342900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8" name="Shape 16"/>
          <p:cNvSpPr/>
          <p:nvPr/>
        </p:nvSpPr>
        <p:spPr>
          <a:xfrm>
            <a:off x="356616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356616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7764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6616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SKILL.md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checklist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to .github/skills/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4" name="Shape 22"/>
          <p:cNvSpPr/>
          <p:nvPr/>
        </p:nvSpPr>
        <p:spPr>
          <a:xfrm>
            <a:off x="612648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5" name="Shape 23"/>
          <p:cNvSpPr/>
          <p:nvPr/>
        </p:nvSpPr>
        <p:spPr>
          <a:xfrm>
            <a:off x="626364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6364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with natural prompt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 loads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description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" y="47091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home: a working skill, a pattern to replicate, the confidence to create more.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Phase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Skills-Creator Moment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build together — what skill would YOUR team benefit from most?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YOURSELF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explain to new engineers repeatedly?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checklist do I mentally run every PR?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task always gets done differently by different people?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wish happened automatically?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procedure lives only in my head?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EXAMPLES FROM OTHER TEAMS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pr-review — team's PR quality checklist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incident-response — triage steps + comms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api-design — REST convention enforcement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migration-checklist — safe DB migrations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release-notes — generate from commit range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onboarding-tour — explain the codebase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663440"/>
            <a:ext cx="768096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663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idea down. We'll build one together — you'll leave knowing how to build yours.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Phases 2 + 3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+ Test the Skill Together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leads.  You follow on your cloned repo.  Ask questions freely.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11887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BUILDING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"pr-review" skill that auto-triggers on prompts like "Review this PR" or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this ready to merge?" — enforcing your team's checklist every single time.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7680960" cy="18288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80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1546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.github/skills/pr-review  &amp;&amp;  touch .github/skills/pr-review/SKILL.md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Add frontmatter (name, description)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Write the checklist — team-specific, not generic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Define output format (PASS/FAIL + suggested fixes)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copilot  →  "Review the changes in this repo for a PR"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Verify the skill auto-triggered. Iterate on description if not.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committed .github/skills/pr-review/SKILL.md — yours to take to your real repos.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Plugins — Ship It to the Whole Team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install bundles agents + skills + MCP setup for every engineer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PLUGIN BUNDLES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 (specialists)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skills (repeatable tasks)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configurations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&amp; hooks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version-controlled together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LEADS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install once — get everything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'did you copy the agent file?' friction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propagate — fix once, team benefits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across VS Code, Copilot CLI, etc.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AI system becomes a product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886200"/>
            <a:ext cx="7680960" cy="731520"/>
          </a:xfrm>
          <a:prstGeom prst="rect">
            <a:avLst/>
          </a:prstGeom>
          <a:solidFill>
            <a:srgbClr val="1E293B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069080"/>
            <a:ext cx="365760" cy="3657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4023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417320" y="42519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GEP plugin from VS Code UI → agents, skills, MCP appear automatically</a:t>
            </a:r>
            <a:endParaRPr lang="en-US" sz="12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709160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97280" y="47091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once. Ship as plugin. Every engineer benefits from day one.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Rollout Playbook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05840"/>
            <a:ext cx="1874520" cy="457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AGENTS.md to repos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docs/ folder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install instructions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team subscriptions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889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88920" y="1005840"/>
            <a:ext cx="1874520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27889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889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Skills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1-2 daily-use agents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1 common skill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in .github/ via git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005840"/>
            <a:ext cx="1874520" cy="4572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Adoption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1-hour session for engineers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/review habit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programmatic mode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03720" y="1005840"/>
            <a:ext cx="1874520" cy="457200"/>
          </a:xfrm>
          <a:prstGeom prst="rect">
            <a:avLst/>
          </a:prstGeom>
          <a:solidFill>
            <a:srgbClr val="075985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037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&amp; Iterate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usage feedback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AGENTS.md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MCP &amp; CI hooks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3840480"/>
            <a:ext cx="7680960" cy="11887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STARTER TEMPLATES EVERY TEAM SHOULD HAVE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" y="42062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AGENTS.md + docs/ — Team standards + indexed details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.github/agents/code-reviewer.agent.md — Quality review specialist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.github/skills/pr-review/SKILL.md — PR review checklist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00584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78308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Start Building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Team's AI System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engineers don't need to learn prompts.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you to set up the system.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Engineering Workshop v2</dc:title>
  <dc:subject>PptxGenJS Presentation</dc:subject>
  <dc:creator>AI Workshop Team</dc:creator>
  <cp:lastModifiedBy>AI Workshop Team</cp:lastModifiedBy>
  <cp:revision>1</cp:revision>
  <dcterms:created xsi:type="dcterms:W3CDTF">2026-04-13T01:41:39Z</dcterms:created>
  <dcterms:modified xsi:type="dcterms:W3CDTF">2026-04-13T01:41:39Z</dcterms:modified>
</cp:coreProperties>
</file>