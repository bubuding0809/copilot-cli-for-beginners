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?>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?>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.xml"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3.xml"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image" Target="../media/image-14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4.xml"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6.xml"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EA5E9"/>
          </a:solidFill>
          <a:ln/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097280"/>
            <a:ext cx="548640" cy="54864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31520" y="1737360"/>
            <a:ext cx="7315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40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AI-Augmented</a:t>
            </a:r>
            <a:endParaRPr lang="en-US" sz="4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40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Engineering Workshop</a:t>
            </a:r>
            <a:endParaRPr lang="en-US" sz="4000" dirty="0"/>
          </a:p>
        </p:txBody>
      </p:sp>
      <p:sp>
        <p:nvSpPr>
          <p:cNvPr id="5" name="Text 2"/>
          <p:cNvSpPr/>
          <p:nvPr/>
        </p:nvSpPr>
        <p:spPr>
          <a:xfrm>
            <a:off x="731520" y="32918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autocomplete to delegatable specialist</a:t>
            </a:r>
            <a:endParaRPr lang="en-US" sz="1800" dirty="0"/>
          </a:p>
        </p:txBody>
      </p:sp>
      <p:sp>
        <p:nvSpPr>
          <p:cNvPr id="6" name="Shape 3"/>
          <p:cNvSpPr/>
          <p:nvPr/>
        </p:nvSpPr>
        <p:spPr>
          <a:xfrm>
            <a:off x="731520" y="4023360"/>
            <a:ext cx="4572000" cy="36576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7" name="Text 4"/>
          <p:cNvSpPr/>
          <p:nvPr/>
        </p:nvSpPr>
        <p:spPr>
          <a:xfrm>
            <a:off x="731520" y="42062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On-site  ·  Hands-on  ·  ~3 hours  ·  AI Champions &amp; Team Leads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Mindset Shift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31520" y="1097280"/>
            <a:ext cx="365760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1097280"/>
            <a:ext cx="3657600" cy="5486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128016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005840" y="1645920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 writes code</a:t>
            </a:r>
            <a:endParaRPr lang="en-US" sz="13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AI suggests autocomplete</a:t>
            </a:r>
            <a:endParaRPr lang="en-US" sz="13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Developer accepts/rejects</a:t>
            </a:r>
            <a:endParaRPr lang="en-US" sz="1300" dirty="0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51960" y="1691640"/>
            <a:ext cx="411480" cy="41148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4754880" y="1097280"/>
            <a:ext cx="365760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54880" y="1097280"/>
            <a:ext cx="3657600" cy="5486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1" name="Text 8"/>
          <p:cNvSpPr/>
          <p:nvPr/>
        </p:nvSpPr>
        <p:spPr>
          <a:xfrm>
            <a:off x="5029200" y="128016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TOMORROW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5029200" y="1645920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sets up the system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Engineer describes the problem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AI executes with team standards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Engineer reviews &amp; approves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731520" y="3108960"/>
            <a:ext cx="7680960" cy="1463040"/>
          </a:xfrm>
          <a:prstGeom prst="rect">
            <a:avLst/>
          </a:prstGeom>
          <a:solidFill>
            <a:srgbClr val="1E293B"/>
          </a:solidFill>
          <a:ln/>
        </p:spPr>
      </p:sp>
      <p:pic>
        <p:nvPicPr>
          <p:cNvPr id="14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3383280"/>
            <a:ext cx="365760" cy="36576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1600200" y="33832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INSIGHT</a:t>
            </a:r>
            <a:endParaRPr lang="en-US" sz="1100" dirty="0"/>
          </a:p>
        </p:txBody>
      </p:sp>
      <p:sp>
        <p:nvSpPr>
          <p:cNvPr id="16" name="Text 12"/>
          <p:cNvSpPr/>
          <p:nvPr/>
        </p:nvSpPr>
        <p:spPr>
          <a:xfrm>
            <a:off x="1097280" y="3794760"/>
            <a:ext cx="6949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is not a typing assistant. It is a junior team member that follows your standards, uses your tools, and gets better the more structure you give it.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What You'll Walk Away With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31520" y="1051560"/>
            <a:ext cx="7680960" cy="5943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1051560"/>
            <a:ext cx="64008" cy="594360"/>
          </a:xfrm>
          <a:prstGeom prst="rect">
            <a:avLst/>
          </a:prstGeom>
          <a:solidFill>
            <a:srgbClr val="0EA5E9"/>
          </a:solidFill>
          <a:ln/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1560" y="1170432"/>
            <a:ext cx="347472" cy="34747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554480" y="1051560"/>
            <a:ext cx="6583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Understood the 6 pillars of agentic AI tooling and how they compose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731520" y="1783080"/>
            <a:ext cx="7680960" cy="5943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731520" y="1783080"/>
            <a:ext cx="64008" cy="594360"/>
          </a:xfrm>
          <a:prstGeom prst="rect">
            <a:avLst/>
          </a:prstGeom>
          <a:solidFill>
            <a:srgbClr val="0EA5E9"/>
          </a:solidFill>
          <a:ln/>
        </p:spPr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" y="1901952"/>
            <a:ext cx="347472" cy="347472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554480" y="1783080"/>
            <a:ext cx="6583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Experienced each pillar hands-on with concrete C# / TypeScript examples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731520" y="2514600"/>
            <a:ext cx="7680960" cy="5943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731520" y="2514600"/>
            <a:ext cx="64008" cy="594360"/>
          </a:xfrm>
          <a:prstGeom prst="rect">
            <a:avLst/>
          </a:prstGeom>
          <a:solidFill>
            <a:srgbClr val="0EA5E9"/>
          </a:solidFill>
          <a:ln/>
        </p:spPr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1560" y="2633472"/>
            <a:ext cx="347472" cy="347472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1554480" y="2514600"/>
            <a:ext cx="6583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a working skill for your team — not a concept, a real artifact</a:t>
            </a:r>
            <a:endParaRPr lang="en-US" sz="1400" dirty="0"/>
          </a:p>
        </p:txBody>
      </p:sp>
      <p:sp>
        <p:nvSpPr>
          <p:cNvPr id="16" name="Shape 11"/>
          <p:cNvSpPr/>
          <p:nvPr/>
        </p:nvSpPr>
        <p:spPr>
          <a:xfrm>
            <a:off x="731520" y="3246120"/>
            <a:ext cx="7680960" cy="5943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7" name="Shape 12"/>
          <p:cNvSpPr/>
          <p:nvPr/>
        </p:nvSpPr>
        <p:spPr>
          <a:xfrm>
            <a:off x="731520" y="3246120"/>
            <a:ext cx="64008" cy="594360"/>
          </a:xfrm>
          <a:prstGeom prst="rect">
            <a:avLst/>
          </a:prstGeom>
          <a:solidFill>
            <a:srgbClr val="0EA5E9"/>
          </a:solidFill>
          <a:ln/>
        </p:spPr>
      </p:sp>
      <p:pic>
        <p:nvPicPr>
          <p:cNvPr id="18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1560" y="3364992"/>
            <a:ext cx="347472" cy="347472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1554480" y="3246120"/>
            <a:ext cx="6583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Designed the AI workflow your engineers will actually use</a:t>
            </a:r>
            <a:endParaRPr lang="en-US" sz="1400" dirty="0"/>
          </a:p>
        </p:txBody>
      </p:sp>
      <p:sp>
        <p:nvSpPr>
          <p:cNvPr id="20" name="Shape 14"/>
          <p:cNvSpPr/>
          <p:nvPr/>
        </p:nvSpPr>
        <p:spPr>
          <a:xfrm>
            <a:off x="731520" y="3977640"/>
            <a:ext cx="7680960" cy="5943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5"/>
          <p:cNvSpPr/>
          <p:nvPr/>
        </p:nvSpPr>
        <p:spPr>
          <a:xfrm>
            <a:off x="731520" y="3977640"/>
            <a:ext cx="64008" cy="594360"/>
          </a:xfrm>
          <a:prstGeom prst="rect">
            <a:avLst/>
          </a:prstGeom>
          <a:solidFill>
            <a:srgbClr val="0EA5E9"/>
          </a:solidFill>
          <a:ln/>
        </p:spPr>
      </p:sp>
      <p:pic>
        <p:nvPicPr>
          <p:cNvPr id="22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51560" y="4096512"/>
            <a:ext cx="347472" cy="347472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1554480" y="3977640"/>
            <a:ext cx="6583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Received a playbook for rolling this out to your engineering team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Agenda</a:t>
            </a:r>
            <a:endParaRPr lang="en-US" sz="30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960120"/>
          <a:ext cx="76809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463040"/>
                <a:gridCol w="512064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EA5E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 min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Live demo: work item → merged PR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EA5E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 min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Pillar 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Context &amp; Commands — Quick Start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EA5E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 min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Pillar 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Instruction Files + Indexing Pattern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EA5E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 min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Pillar 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Agents + Sub-Agent Orchestration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EA5E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 min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Pillar 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Skills — Why, What, Code Review, Checkmarx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EA5E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 min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Pillar 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Integration Choices (MCP vs CLI Skill)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EA5E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 min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Pillar 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Automation — Pipeline Example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EA5E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 min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Break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8F0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EA5E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 min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Capstone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8BD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Design + Build a Skill Together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EA5E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 min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Closing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Rollout playbook + Q&amp;A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731520" y="4572000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Total: ~3 hours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7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Opening: The Vision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731520" y="7772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demo: work item → merged PR in one terminal session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914400" y="1371600"/>
            <a:ext cx="365760" cy="36576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13716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463040" y="1325880"/>
            <a:ext cx="3200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Pull work item from ADO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846320" y="1344168"/>
            <a:ext cx="3474720" cy="384048"/>
          </a:xfrm>
          <a:prstGeom prst="rect">
            <a:avLst/>
          </a:prstGeom>
          <a:solidFill>
            <a:srgbClr val="1A2332"/>
          </a:solidFill>
          <a:ln/>
        </p:spPr>
      </p:sp>
      <p:sp>
        <p:nvSpPr>
          <p:cNvPr id="9" name="Text 7"/>
          <p:cNvSpPr/>
          <p:nvPr/>
        </p:nvSpPr>
        <p:spPr>
          <a:xfrm>
            <a:off x="4983480" y="1344168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"Show me work item #576684"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14400" y="1901952"/>
            <a:ext cx="365760" cy="36576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1" name="Text 9"/>
          <p:cNvSpPr/>
          <p:nvPr/>
        </p:nvSpPr>
        <p:spPr>
          <a:xfrm>
            <a:off x="914400" y="19019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463040" y="1856232"/>
            <a:ext cx="3200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the approach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846320" y="1874520"/>
            <a:ext cx="3474720" cy="384048"/>
          </a:xfrm>
          <a:prstGeom prst="rect">
            <a:avLst/>
          </a:prstGeom>
          <a:solidFill>
            <a:srgbClr val="1A2332"/>
          </a:solidFill>
          <a:ln/>
        </p:spPr>
      </p:sp>
      <p:sp>
        <p:nvSpPr>
          <p:cNvPr id="14" name="Text 12"/>
          <p:cNvSpPr/>
          <p:nvPr/>
        </p:nvSpPr>
        <p:spPr>
          <a:xfrm>
            <a:off x="4983480" y="1874520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/plan &lt;feature&gt;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914400" y="2432304"/>
            <a:ext cx="365760" cy="36576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243230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463040" y="2386584"/>
            <a:ext cx="3200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Switch to specialist agent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846320" y="2404872"/>
            <a:ext cx="3474720" cy="384048"/>
          </a:xfrm>
          <a:prstGeom prst="rect">
            <a:avLst/>
          </a:prstGeom>
          <a:solidFill>
            <a:srgbClr val="1A2332"/>
          </a:solidFill>
          <a:ln/>
        </p:spPr>
      </p:sp>
      <p:sp>
        <p:nvSpPr>
          <p:cNvPr id="19" name="Text 17"/>
          <p:cNvSpPr/>
          <p:nvPr/>
        </p:nvSpPr>
        <p:spPr>
          <a:xfrm>
            <a:off x="4983480" y="2404872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/agent csharp-reviewer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914400" y="2962656"/>
            <a:ext cx="365760" cy="36576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21" name="Text 19"/>
          <p:cNvSpPr/>
          <p:nvPr/>
        </p:nvSpPr>
        <p:spPr>
          <a:xfrm>
            <a:off x="914400" y="296265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463040" y="2916936"/>
            <a:ext cx="3200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 with skill standards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4846320" y="2935224"/>
            <a:ext cx="3474720" cy="384048"/>
          </a:xfrm>
          <a:prstGeom prst="rect">
            <a:avLst/>
          </a:prstGeom>
          <a:solidFill>
            <a:srgbClr val="1A2332"/>
          </a:solidFill>
          <a:ln/>
        </p:spPr>
      </p:sp>
      <p:sp>
        <p:nvSpPr>
          <p:cNvPr id="24" name="Text 22"/>
          <p:cNvSpPr/>
          <p:nvPr/>
        </p:nvSpPr>
        <p:spPr>
          <a:xfrm>
            <a:off x="4983480" y="2935224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(auto-triggers)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914400" y="3493008"/>
            <a:ext cx="365760" cy="36576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26" name="Text 24"/>
          <p:cNvSpPr/>
          <p:nvPr/>
        </p:nvSpPr>
        <p:spPr>
          <a:xfrm>
            <a:off x="914400" y="349300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1463040" y="3447288"/>
            <a:ext cx="3200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846320" y="3465576"/>
            <a:ext cx="3474720" cy="384048"/>
          </a:xfrm>
          <a:prstGeom prst="rect">
            <a:avLst/>
          </a:prstGeom>
          <a:solidFill>
            <a:srgbClr val="1A2332"/>
          </a:solidFill>
          <a:ln/>
        </p:spPr>
      </p:sp>
      <p:sp>
        <p:nvSpPr>
          <p:cNvPr id="29" name="Text 27"/>
          <p:cNvSpPr/>
          <p:nvPr/>
        </p:nvSpPr>
        <p:spPr>
          <a:xfrm>
            <a:off x="4983480" y="3465576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/review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914400" y="4023360"/>
            <a:ext cx="365760" cy="36576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31" name="Text 29"/>
          <p:cNvSpPr/>
          <p:nvPr/>
        </p:nvSpPr>
        <p:spPr>
          <a:xfrm>
            <a:off x="914400" y="4023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1463040" y="3977640"/>
            <a:ext cx="3200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4846320" y="3995928"/>
            <a:ext cx="3474720" cy="384048"/>
          </a:xfrm>
          <a:prstGeom prst="rect">
            <a:avLst/>
          </a:prstGeom>
          <a:solidFill>
            <a:srgbClr val="1A2332"/>
          </a:solidFill>
          <a:ln/>
        </p:spPr>
      </p:sp>
      <p:sp>
        <p:nvSpPr>
          <p:cNvPr id="34" name="Text 32"/>
          <p:cNvSpPr/>
          <p:nvPr/>
        </p:nvSpPr>
        <p:spPr>
          <a:xfrm>
            <a:off x="4983480" y="3995928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/pr create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731520" y="4526280"/>
            <a:ext cx="7680960" cy="502920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36" name="Text 34"/>
          <p:cNvSpPr/>
          <p:nvPr/>
        </p:nvSpPr>
        <p:spPr>
          <a:xfrm>
            <a:off x="914400" y="452628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"Your engineers don't need to learn prompts. They need you to set up the system."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828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Pillar 1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31520" y="45720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Context &amp; Commands — Quick Start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31520" y="91440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basics: how to talk to AI and direct it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1463040"/>
            <a:ext cx="3749040" cy="2743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31520" y="1463040"/>
            <a:ext cx="64008" cy="2743200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160020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ESSENTIALS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005840" y="1920240"/>
            <a:ext cx="32004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@file.cs, @folder/ — reference files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/plan — think before coding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/review — check before committing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/research — understand before building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Sessions auto-save &amp; resume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663440" y="1463040"/>
            <a:ext cx="3749040" cy="274320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11" name="Text 9"/>
          <p:cNvSpPr/>
          <p:nvPr/>
        </p:nvSpPr>
        <p:spPr>
          <a:xfrm>
            <a:off x="4937760" y="160020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HANDS-ON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937760" y="1965960"/>
            <a:ext cx="32918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 @BooksController.cs What does GetByAuthor do?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 "Partial names return no results. Debug."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 /plan Fix GetByAuthor search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 /context</a:t>
            </a:r>
            <a:endParaRPr lang="en-US" sz="1100" dirty="0"/>
          </a:p>
        </p:txBody>
      </p:sp>
      <p:pic>
        <p:nvPicPr>
          <p:cNvPr id="13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4434840"/>
            <a:ext cx="274320" cy="274320"/>
          </a:xfrm>
          <a:prstGeom prst="rect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1097280" y="4434840"/>
            <a:ext cx="6858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That's it for the basics. Deeper agent patterns coming in Pillar 3.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828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Pillar 2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31520" y="45720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Instruction Files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31520" y="91440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the rules for every session — the team lead multiplier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1463040"/>
            <a:ext cx="7680960" cy="914400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0" y="1463040"/>
            <a:ext cx="64008" cy="914400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1508760"/>
            <a:ext cx="7223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"You write your coding standards once in AGENTS.md. Every session in your repo follows them — for new hires, contractors, and senior engineers alike."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31520" y="2606040"/>
            <a:ext cx="4114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AGENTS.md at repo root = always-on for every session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/init generates a starter file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one needs to invoke it — automatic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Encode team standards without policing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029200" y="2606040"/>
            <a:ext cx="3383280" cy="164592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11" name="Text 9"/>
          <p:cNvSpPr/>
          <p:nvPr/>
        </p:nvSpPr>
        <p:spPr>
          <a:xfrm>
            <a:off x="5212080" y="269748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HANDS-ON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212080" y="2971800"/>
            <a:ext cx="3017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 /init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Edit AGENTS.md: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"C# backend: use nullable refs"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"TS frontend: strict mode always"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"Conventional commits required"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 @BooksController.cs Review this</a:t>
            </a:r>
            <a:endParaRPr lang="en-US" sz="1000" dirty="0"/>
          </a:p>
        </p:txBody>
      </p:sp>
      <p:pic>
        <p:nvPicPr>
          <p:cNvPr id="13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4434840"/>
            <a:ext cx="274320" cy="274320"/>
          </a:xfrm>
          <a:prstGeom prst="rect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1097280" y="4434840"/>
            <a:ext cx="6858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Highest-leverage thing a team lead can set up. 5 min of writing, permanent impact.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828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Pillar 2 (cont.)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31520" y="45720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Scaling with the Indexing Pattern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31520" y="91440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complex projects: AGENTS.md as the table of contents, docs/ as the detail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1417320"/>
            <a:ext cx="3657600" cy="30175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31520" y="1417320"/>
            <a:ext cx="3657600" cy="5486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8" name="Text 6"/>
          <p:cNvSpPr/>
          <p:nvPr/>
        </p:nvSpPr>
        <p:spPr>
          <a:xfrm>
            <a:off x="960120" y="155448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960120" y="1828800"/>
            <a:ext cx="3200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 AGENTS.md can't capture everything about a real project — architecture, API conventions, deployment, security, domain logic.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960120" y="297180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PATTERN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960120" y="3246120"/>
            <a:ext cx="32004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AGENTS.md becomes an index — a short file that points to detailed docs in docs/. AI loads the index always, detail docs only when needed.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663440" y="1417320"/>
            <a:ext cx="3749040" cy="301752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13" name="Text 11"/>
          <p:cNvSpPr/>
          <p:nvPr/>
        </p:nvSpPr>
        <p:spPr>
          <a:xfrm>
            <a:off x="4892040" y="150876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 STRUCTURE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892040" y="1783080"/>
            <a:ext cx="329184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📁 your-repo/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AGENTS.md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00" i="1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(index → points to docs)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docs/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├── architecture.md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├── csharp-conventions.md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├── typescript-style.md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├── api-design.md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└── deployment.md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src/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└── ...</a:t>
            </a:r>
            <a:endParaRPr lang="en-US" sz="1100" dirty="0"/>
          </a:p>
        </p:txBody>
      </p:sp>
      <p:pic>
        <p:nvPicPr>
          <p:cNvPr id="15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4572000"/>
            <a:ext cx="274320" cy="274320"/>
          </a:xfrm>
          <a:prstGeom prst="rect">
            <a:avLst/>
          </a:prstGeom>
        </p:spPr>
      </p:pic>
      <p:sp>
        <p:nvSpPr>
          <p:cNvPr id="16" name="Text 13"/>
          <p:cNvSpPr/>
          <p:nvPr/>
        </p:nvSpPr>
        <p:spPr>
          <a:xfrm>
            <a:off x="1097280" y="4572000"/>
            <a:ext cx="6858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AGENTS.md short. Let it point. Detail docs stay discoverable but don't bloat context.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828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Pillar 3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31520" y="45720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Agents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31520" y="91440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On-demand specialists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1417320"/>
            <a:ext cx="3749040" cy="15544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31520" y="1417320"/>
            <a:ext cx="3749040" cy="5486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155448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GENERIC PROMPT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005840" y="1828800"/>
            <a:ext cx="3200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"Review @BooksController.cs"</a:t>
            </a:r>
            <a:endParaRPr lang="en-US" sz="1200" dirty="0"/>
          </a:p>
          <a:p>
            <a:pPr indent="0" marL="0">
              <a:lnSpc>
                <a:spcPct val="140000"/>
              </a:lnSpc>
              <a:buNone/>
            </a:pPr>
            <a:endParaRPr lang="en-US" sz="12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Broad, generic suggestions</a:t>
            </a:r>
            <a:endParaRPr lang="en-US" sz="12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No team conventions applied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663440" y="1417320"/>
            <a:ext cx="3749040" cy="15544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63440" y="1417320"/>
            <a:ext cx="3749040" cy="5486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2" name="Text 10"/>
          <p:cNvSpPr/>
          <p:nvPr/>
        </p:nvSpPr>
        <p:spPr>
          <a:xfrm>
            <a:off x="4937760" y="155448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AGENT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937760" y="1828800"/>
            <a:ext cx="3200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/agent csharp-reviewer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"Review @BooksController.cs"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Nullable checks, async/await,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    dependency injection patterns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31520" y="3154680"/>
            <a:ext cx="7680960" cy="45720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15" name="Text 13"/>
          <p:cNvSpPr/>
          <p:nvPr/>
        </p:nvSpPr>
        <p:spPr>
          <a:xfrm>
            <a:off x="914400" y="315468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 files set the floor.  Agents raise the ceiling.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731520" y="379476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YOUR OWN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731520" y="4069080"/>
            <a:ext cx="7680960" cy="96012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18" name="Text 16"/>
          <p:cNvSpPr/>
          <p:nvPr/>
        </p:nvSpPr>
        <p:spPr>
          <a:xfrm>
            <a:off x="914400" y="4114800"/>
            <a:ext cx="7315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.github/agents/csharp-reviewer.agent.md</a:t>
            </a:r>
            <a:r>
              <a:rPr lang="en-US" sz="1000" i="1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 xml:space="preserve">   ← project scope · committed · team-shared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~/.copilot/agents/csharp-reviewer.agent.md</a:t>
            </a:r>
            <a:r>
              <a:rPr lang="en-US" sz="1000" i="1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 xml:space="preserve">      ← user scope · personal · all your repos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description: "Reviews C# for team conventions"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Enforces nullable refs, async patterns, DI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828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Pillar 3 (cont.)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31520" y="45720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Advanced: Sub-Agent Orchestration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31520" y="91440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calling agents — specialized workers, isolated context, composed workflows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1417320"/>
            <a:ext cx="7680960" cy="164592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150876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TYPICAL ORCHESTRATION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914400" y="1874520"/>
            <a:ext cx="1554480" cy="1051560"/>
          </a:xfrm>
          <a:prstGeom prst="rect">
            <a:avLst/>
          </a:prstGeom>
          <a:solidFill>
            <a:srgbClr val="1A2332"/>
          </a:solidFill>
          <a:ln/>
        </p:spPr>
      </p:sp>
      <p:sp>
        <p:nvSpPr>
          <p:cNvPr id="9" name="Shape 7"/>
          <p:cNvSpPr/>
          <p:nvPr/>
        </p:nvSpPr>
        <p:spPr>
          <a:xfrm>
            <a:off x="914400" y="1874520"/>
            <a:ext cx="1554480" cy="5486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1965960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914400" y="219456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Planner</a:t>
            </a:r>
            <a:endParaRPr lang="en-US" sz="12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914400" y="260604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Breaks task into</a:t>
            </a:r>
            <a:endParaRPr lang="en-US" sz="9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subtasks</a:t>
            </a:r>
            <a:endParaRPr lang="en-US" sz="900" dirty="0"/>
          </a:p>
        </p:txBody>
      </p:sp>
      <p:pic>
        <p:nvPicPr>
          <p:cNvPr id="13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0" y="2331720"/>
            <a:ext cx="228600" cy="228600"/>
          </a:xfrm>
          <a:prstGeom prst="rect">
            <a:avLst/>
          </a:prstGeom>
        </p:spPr>
      </p:pic>
      <p:sp>
        <p:nvSpPr>
          <p:cNvPr id="14" name="Shape 11"/>
          <p:cNvSpPr/>
          <p:nvPr/>
        </p:nvSpPr>
        <p:spPr>
          <a:xfrm>
            <a:off x="2880360" y="1874520"/>
            <a:ext cx="1737360" cy="1051560"/>
          </a:xfrm>
          <a:prstGeom prst="rect">
            <a:avLst/>
          </a:prstGeom>
          <a:solidFill>
            <a:srgbClr val="1A2332"/>
          </a:solidFill>
          <a:ln/>
        </p:spPr>
      </p:sp>
      <p:sp>
        <p:nvSpPr>
          <p:cNvPr id="15" name="Shape 12"/>
          <p:cNvSpPr/>
          <p:nvPr/>
        </p:nvSpPr>
        <p:spPr>
          <a:xfrm>
            <a:off x="2880360" y="1874520"/>
            <a:ext cx="1737360" cy="54864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16" name="Text 13"/>
          <p:cNvSpPr/>
          <p:nvPr/>
        </p:nvSpPr>
        <p:spPr>
          <a:xfrm>
            <a:off x="2880360" y="1965960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2880360" y="219456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Researcher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2880360" y="246888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Understands codebase</a:t>
            </a:r>
            <a:endParaRPr lang="en-US" sz="900" dirty="0"/>
          </a:p>
        </p:txBody>
      </p:sp>
      <p:sp>
        <p:nvSpPr>
          <p:cNvPr id="19" name="Shape 16"/>
          <p:cNvSpPr/>
          <p:nvPr/>
        </p:nvSpPr>
        <p:spPr>
          <a:xfrm>
            <a:off x="4709160" y="1874520"/>
            <a:ext cx="1737360" cy="1051560"/>
          </a:xfrm>
          <a:prstGeom prst="rect">
            <a:avLst/>
          </a:prstGeom>
          <a:solidFill>
            <a:srgbClr val="1A2332"/>
          </a:solidFill>
          <a:ln/>
        </p:spPr>
      </p:sp>
      <p:sp>
        <p:nvSpPr>
          <p:cNvPr id="20" name="Shape 17"/>
          <p:cNvSpPr/>
          <p:nvPr/>
        </p:nvSpPr>
        <p:spPr>
          <a:xfrm>
            <a:off x="4709160" y="1874520"/>
            <a:ext cx="1737360" cy="54864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21" name="Text 18"/>
          <p:cNvSpPr/>
          <p:nvPr/>
        </p:nvSpPr>
        <p:spPr>
          <a:xfrm>
            <a:off x="4709160" y="1965960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4709160" y="219456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Implementer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4709160" y="246888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Writes changes</a:t>
            </a:r>
            <a:endParaRPr lang="en-US" sz="900" dirty="0"/>
          </a:p>
        </p:txBody>
      </p:sp>
      <p:sp>
        <p:nvSpPr>
          <p:cNvPr id="24" name="Shape 21"/>
          <p:cNvSpPr/>
          <p:nvPr/>
        </p:nvSpPr>
        <p:spPr>
          <a:xfrm>
            <a:off x="6537960" y="1874520"/>
            <a:ext cx="1737360" cy="1051560"/>
          </a:xfrm>
          <a:prstGeom prst="rect">
            <a:avLst/>
          </a:prstGeom>
          <a:solidFill>
            <a:srgbClr val="1A2332"/>
          </a:solidFill>
          <a:ln/>
        </p:spPr>
      </p:sp>
      <p:sp>
        <p:nvSpPr>
          <p:cNvPr id="25" name="Shape 22"/>
          <p:cNvSpPr/>
          <p:nvPr/>
        </p:nvSpPr>
        <p:spPr>
          <a:xfrm>
            <a:off x="6537960" y="1874520"/>
            <a:ext cx="1737360" cy="54864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26" name="Text 23"/>
          <p:cNvSpPr/>
          <p:nvPr/>
        </p:nvSpPr>
        <p:spPr>
          <a:xfrm>
            <a:off x="6537960" y="1965960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</a:t>
            </a:r>
            <a:endParaRPr lang="en-US" sz="900" dirty="0"/>
          </a:p>
        </p:txBody>
      </p:sp>
      <p:sp>
        <p:nvSpPr>
          <p:cNvPr id="27" name="Text 24"/>
          <p:cNvSpPr/>
          <p:nvPr/>
        </p:nvSpPr>
        <p:spPr>
          <a:xfrm>
            <a:off x="6537960" y="219456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Reviewer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6537960" y="246888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Checks output</a:t>
            </a:r>
            <a:endParaRPr lang="en-US" sz="900" dirty="0"/>
          </a:p>
        </p:txBody>
      </p:sp>
      <p:sp>
        <p:nvSpPr>
          <p:cNvPr id="29" name="Shape 26"/>
          <p:cNvSpPr/>
          <p:nvPr/>
        </p:nvSpPr>
        <p:spPr>
          <a:xfrm>
            <a:off x="731520" y="3200400"/>
            <a:ext cx="3749040" cy="12344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30" name="Shape 27"/>
          <p:cNvSpPr/>
          <p:nvPr/>
        </p:nvSpPr>
        <p:spPr>
          <a:xfrm>
            <a:off x="731520" y="3200400"/>
            <a:ext cx="3749040" cy="5486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31" name="Text 28"/>
          <p:cNvSpPr/>
          <p:nvPr/>
        </p:nvSpPr>
        <p:spPr>
          <a:xfrm>
            <a:off x="1005840" y="3337560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1000" dirty="0"/>
          </a:p>
        </p:txBody>
      </p:sp>
      <p:sp>
        <p:nvSpPr>
          <p:cNvPr id="32" name="Text 29"/>
          <p:cNvSpPr/>
          <p:nvPr/>
        </p:nvSpPr>
        <p:spPr>
          <a:xfrm>
            <a:off x="1005840" y="3566160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20000"/>
              </a:lnSpc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isolation — each agent sees only what it needs</a:t>
            </a:r>
            <a:endParaRPr lang="en-US" sz="1100" dirty="0"/>
          </a:p>
          <a:p>
            <a:pPr marL="342900" indent="-342900">
              <a:lnSpc>
                <a:spcPct val="120000"/>
              </a:lnSpc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Specialization — better outputs from focused workers</a:t>
            </a:r>
            <a:endParaRPr lang="en-US" sz="1100" dirty="0"/>
          </a:p>
          <a:p>
            <a:pPr marL="342900" indent="-342900">
              <a:lnSpc>
                <a:spcPct val="120000"/>
              </a:lnSpc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Parallelism — agents work independently</a:t>
            </a:r>
            <a:endParaRPr lang="en-US" sz="1100" dirty="0"/>
          </a:p>
        </p:txBody>
      </p:sp>
      <p:sp>
        <p:nvSpPr>
          <p:cNvPr id="33" name="Shape 30"/>
          <p:cNvSpPr/>
          <p:nvPr/>
        </p:nvSpPr>
        <p:spPr>
          <a:xfrm>
            <a:off x="4663440" y="3200400"/>
            <a:ext cx="3749040" cy="12344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4663440" y="3200400"/>
            <a:ext cx="3749040" cy="5486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35" name="Text 32"/>
          <p:cNvSpPr/>
          <p:nvPr/>
        </p:nvSpPr>
        <p:spPr>
          <a:xfrm>
            <a:off x="4937760" y="3337560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TO REACH FOR IT</a:t>
            </a:r>
            <a:endParaRPr lang="en-US" sz="1000" dirty="0"/>
          </a:p>
        </p:txBody>
      </p:sp>
      <p:sp>
        <p:nvSpPr>
          <p:cNvPr id="36" name="Text 33"/>
          <p:cNvSpPr/>
          <p:nvPr/>
        </p:nvSpPr>
        <p:spPr>
          <a:xfrm>
            <a:off x="4937760" y="3566160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20000"/>
              </a:lnSpc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Multi-step workflows that span domains</a:t>
            </a:r>
            <a:endParaRPr lang="en-US" sz="1100" dirty="0"/>
          </a:p>
          <a:p>
            <a:pPr marL="342900" indent="-342900">
              <a:lnSpc>
                <a:spcPct val="120000"/>
              </a:lnSpc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Tasks too large for one agent's context</a:t>
            </a:r>
            <a:endParaRPr lang="en-US" sz="1100" dirty="0"/>
          </a:p>
          <a:p>
            <a:pPr marL="342900" indent="-342900">
              <a:lnSpc>
                <a:spcPct val="120000"/>
              </a:lnSpc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you want reusable, composable specialists</a:t>
            </a:r>
            <a:endParaRPr lang="en-US" sz="1100" dirty="0"/>
          </a:p>
        </p:txBody>
      </p:sp>
      <p:pic>
        <p:nvPicPr>
          <p:cNvPr id="37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4572000"/>
            <a:ext cx="274320" cy="274320"/>
          </a:xfrm>
          <a:prstGeom prst="rect">
            <a:avLst/>
          </a:prstGeom>
        </p:spPr>
      </p:pic>
      <p:sp>
        <p:nvSpPr>
          <p:cNvPr id="38" name="Text 34"/>
          <p:cNvSpPr/>
          <p:nvPr/>
        </p:nvSpPr>
        <p:spPr>
          <a:xfrm>
            <a:off x="1097280" y="4572000"/>
            <a:ext cx="6858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with one agent. Add sub-agents when complexity exceeds what a single context can hold.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828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Pillar 4  |  Part 1 of 4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31520" y="45720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Why Skills?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31520" y="91440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we learn what skills are, let's be clear on what they solve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1417320"/>
            <a:ext cx="3749040" cy="31089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31520" y="1417320"/>
            <a:ext cx="3749040" cy="5486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155448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PAIN POINTS TODAY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005840" y="1828800"/>
            <a:ext cx="32004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Engineers re-explain team conventions in every session</a:t>
            </a:r>
            <a:endParaRPr lang="en-US" sz="1200" dirty="0"/>
          </a:p>
          <a:p>
            <a:pPr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 reviews skip steps when reviewers are busy</a:t>
            </a:r>
            <a:endParaRPr lang="en-US" sz="1200" dirty="0"/>
          </a:p>
          <a:p>
            <a:pPr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Incident response runs differently every time</a:t>
            </a:r>
            <a:endParaRPr lang="en-US" sz="1200" dirty="0"/>
          </a:p>
          <a:p>
            <a:pPr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Onboarding docs go stale while tribal knowledge lives in heads</a:t>
            </a:r>
            <a:endParaRPr lang="en-US" sz="1200" dirty="0"/>
          </a:p>
          <a:p>
            <a:pPr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task, different quality — depends who's on it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663440" y="1417320"/>
            <a:ext cx="3749040" cy="31089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63440" y="1417320"/>
            <a:ext cx="3749040" cy="5486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2" name="Text 10"/>
          <p:cNvSpPr/>
          <p:nvPr/>
        </p:nvSpPr>
        <p:spPr>
          <a:xfrm>
            <a:off x="4937760" y="155448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SKILLS SOLVE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937760" y="1828800"/>
            <a:ext cx="32004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Encode the procedure once, in a markdown file</a:t>
            </a:r>
            <a:endParaRPr lang="en-US" sz="1200" dirty="0"/>
          </a:p>
          <a:p>
            <a:pPr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Auto-trigger when AI detects the task — no invocation</a:t>
            </a:r>
            <a:endParaRPr lang="en-US" sz="1200" dirty="0"/>
          </a:p>
          <a:p>
            <a:pPr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quality every time, for every team member</a:t>
            </a:r>
            <a:endParaRPr lang="en-US" sz="1200" dirty="0"/>
          </a:p>
          <a:p>
            <a:pPr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Version-controlled, reviewable, improvable</a:t>
            </a:r>
            <a:endParaRPr lang="en-US" sz="1200" dirty="0"/>
          </a:p>
          <a:p>
            <a:pPr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Tribal knowledge becomes team infrastructure</a:t>
            </a:r>
            <a:endParaRPr lang="en-US" sz="1200" dirty="0"/>
          </a:p>
        </p:txBody>
      </p:sp>
      <p:pic>
        <p:nvPicPr>
          <p:cNvPr id="14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4663440"/>
            <a:ext cx="274320" cy="274320"/>
          </a:xfrm>
          <a:prstGeom prst="rect">
            <a:avLst/>
          </a:prstGeom>
        </p:spPr>
      </p:pic>
      <p:sp>
        <p:nvSpPr>
          <p:cNvPr id="15" name="Text 12"/>
          <p:cNvSpPr/>
          <p:nvPr/>
        </p:nvSpPr>
        <p:spPr>
          <a:xfrm>
            <a:off x="1097280" y="4663440"/>
            <a:ext cx="6858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your team does it more than twice — it's probably a skill.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828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Pillar 4  |  Part 2 of 4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31520" y="45720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Skills — What &amp; How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31520" y="91440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Task-specific instructions that auto-trigger on natural language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1417320"/>
            <a:ext cx="7680960" cy="45720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14173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change who the AI is.  Skills change how it does a specific task.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31520" y="20574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ANATOMY OF A SKILL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731520" y="2331720"/>
            <a:ext cx="4572000" cy="237744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2377440"/>
            <a:ext cx="42062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.github/skills/pr-review/SKILL.md</a:t>
            </a:r>
            <a:r>
              <a:rPr lang="en-US" sz="900" i="1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 xml:space="preserve">   ← project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~/.copilot/skills/pr-review/SKILL.md</a:t>
            </a:r>
            <a:r>
              <a:rPr lang="en-US" sz="900" i="1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 xml:space="preserve">   ← user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name: pr-review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description: "Review a PR for quality"</a:t>
            </a:r>
            <a:endParaRPr lang="en-US" sz="1000" dirty="0"/>
          </a:p>
          <a:p>
            <a:pPr indent="0" marL="0">
              <a:buNone/>
            </a:pPr>
            <a:r>
              <a:rPr lang="en-US" sz="900" i="1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 xml:space="preserve">  ← matched against user's prompt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## Steps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 Check tests cover the changes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2. Verify naming conventions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3. Flag security risks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4. Check error handling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...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577840" y="2331720"/>
            <a:ext cx="2834640" cy="23774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5577840" y="2331720"/>
            <a:ext cx="64008" cy="2377440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13" name="Text 11"/>
          <p:cNvSpPr/>
          <p:nvPr/>
        </p:nvSpPr>
        <p:spPr>
          <a:xfrm>
            <a:off x="5806440" y="246888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Auto-Triggering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806440" y="278892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AI matches your prompt against each skill's description.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806440" y="35204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 triggering prompts: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5806440" y="3794760"/>
            <a:ext cx="2377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0EA5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"Review these changes"</a:t>
            </a:r>
            <a:endParaRPr lang="en-US" sz="10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0EA5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"Check the PR for issues"</a:t>
            </a:r>
            <a:endParaRPr lang="en-US" sz="10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0EA5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"Does this look ready to merge?"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828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Pillar 4  |  Part 3 of 4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31520" y="45720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Skills in Action: Code Review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31520" y="91440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End-to-end: PR arrives → policy-aware review → auto-generated summary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1417320"/>
            <a:ext cx="1417320" cy="18288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1280160" y="1554480"/>
            <a:ext cx="320040" cy="3200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8" name="Text 6"/>
          <p:cNvSpPr/>
          <p:nvPr/>
        </p:nvSpPr>
        <p:spPr>
          <a:xfrm>
            <a:off x="1280160" y="155448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22960" y="1965960"/>
            <a:ext cx="1234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 arrives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22960" y="2286000"/>
            <a:ext cx="1234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 work item with new changes</a:t>
            </a:r>
            <a:endParaRPr lang="en-US" sz="900" dirty="0"/>
          </a:p>
        </p:txBody>
      </p:sp>
      <p:pic>
        <p:nvPicPr>
          <p:cNvPr id="11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48840" y="2148840"/>
            <a:ext cx="155448" cy="155448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2304288" y="1417320"/>
            <a:ext cx="1417320" cy="18288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2852928" y="1554480"/>
            <a:ext cx="320040" cy="3200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4" name="Text 11"/>
          <p:cNvSpPr/>
          <p:nvPr/>
        </p:nvSpPr>
        <p:spPr>
          <a:xfrm>
            <a:off x="2852928" y="155448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2395728" y="1965960"/>
            <a:ext cx="1234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Pull context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2395728" y="2286000"/>
            <a:ext cx="1234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 repos pr show --id 135108</a:t>
            </a:r>
            <a:endParaRPr lang="en-US" sz="900" dirty="0"/>
          </a:p>
        </p:txBody>
      </p:sp>
      <p:pic>
        <p:nvPicPr>
          <p:cNvPr id="17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21608" y="2148840"/>
            <a:ext cx="155448" cy="155448"/>
          </a:xfrm>
          <a:prstGeom prst="rect">
            <a:avLst/>
          </a:prstGeom>
        </p:spPr>
      </p:pic>
      <p:sp>
        <p:nvSpPr>
          <p:cNvPr id="18" name="Shape 14"/>
          <p:cNvSpPr/>
          <p:nvPr/>
        </p:nvSpPr>
        <p:spPr>
          <a:xfrm>
            <a:off x="3877056" y="1417320"/>
            <a:ext cx="1417320" cy="18288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4425696" y="1554480"/>
            <a:ext cx="320040" cy="3200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20" name="Text 16"/>
          <p:cNvSpPr/>
          <p:nvPr/>
        </p:nvSpPr>
        <p:spPr>
          <a:xfrm>
            <a:off x="4425696" y="155448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21" name="Text 17"/>
          <p:cNvSpPr/>
          <p:nvPr/>
        </p:nvSpPr>
        <p:spPr>
          <a:xfrm>
            <a:off x="3968496" y="1965960"/>
            <a:ext cx="1234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 triggers</a:t>
            </a:r>
            <a:endParaRPr lang="en-US" sz="1200" dirty="0"/>
          </a:p>
        </p:txBody>
      </p:sp>
      <p:sp>
        <p:nvSpPr>
          <p:cNvPr id="22" name="Text 18"/>
          <p:cNvSpPr/>
          <p:nvPr/>
        </p:nvSpPr>
        <p:spPr>
          <a:xfrm>
            <a:off x="3968496" y="2286000"/>
            <a:ext cx="1234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"Review this PR" → pr-review loads</a:t>
            </a:r>
            <a:endParaRPr lang="en-US" sz="900" dirty="0"/>
          </a:p>
        </p:txBody>
      </p:sp>
      <p:pic>
        <p:nvPicPr>
          <p:cNvPr id="23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94376" y="2148840"/>
            <a:ext cx="155448" cy="155448"/>
          </a:xfrm>
          <a:prstGeom prst="rect">
            <a:avLst/>
          </a:prstGeom>
        </p:spPr>
      </p:pic>
      <p:sp>
        <p:nvSpPr>
          <p:cNvPr id="24" name="Shape 19"/>
          <p:cNvSpPr/>
          <p:nvPr/>
        </p:nvSpPr>
        <p:spPr>
          <a:xfrm>
            <a:off x="5449824" y="1417320"/>
            <a:ext cx="1417320" cy="18288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0"/>
          <p:cNvSpPr/>
          <p:nvPr/>
        </p:nvSpPr>
        <p:spPr>
          <a:xfrm>
            <a:off x="5998464" y="1554480"/>
            <a:ext cx="320040" cy="3200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26" name="Text 21"/>
          <p:cNvSpPr/>
          <p:nvPr/>
        </p:nvSpPr>
        <p:spPr>
          <a:xfrm>
            <a:off x="5998464" y="155448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7" name="Text 22"/>
          <p:cNvSpPr/>
          <p:nvPr/>
        </p:nvSpPr>
        <p:spPr>
          <a:xfrm>
            <a:off x="5541264" y="1965960"/>
            <a:ext cx="1234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Policy review</a:t>
            </a:r>
            <a:endParaRPr lang="en-US" sz="1200" dirty="0"/>
          </a:p>
        </p:txBody>
      </p:sp>
      <p:sp>
        <p:nvSpPr>
          <p:cNvPr id="28" name="Text 23"/>
          <p:cNvSpPr/>
          <p:nvPr/>
        </p:nvSpPr>
        <p:spPr>
          <a:xfrm>
            <a:off x="5541264" y="2286000"/>
            <a:ext cx="1234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conventions + security policies</a:t>
            </a:r>
            <a:endParaRPr lang="en-US" sz="900" dirty="0"/>
          </a:p>
        </p:txBody>
      </p:sp>
      <p:pic>
        <p:nvPicPr>
          <p:cNvPr id="29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67144" y="2148840"/>
            <a:ext cx="155448" cy="155448"/>
          </a:xfrm>
          <a:prstGeom prst="rect">
            <a:avLst/>
          </a:prstGeom>
        </p:spPr>
      </p:pic>
      <p:sp>
        <p:nvSpPr>
          <p:cNvPr id="30" name="Shape 24"/>
          <p:cNvSpPr/>
          <p:nvPr/>
        </p:nvSpPr>
        <p:spPr>
          <a:xfrm>
            <a:off x="7022592" y="1417320"/>
            <a:ext cx="1417320" cy="18288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31" name="Shape 25"/>
          <p:cNvSpPr/>
          <p:nvPr/>
        </p:nvSpPr>
        <p:spPr>
          <a:xfrm>
            <a:off x="7571232" y="1554480"/>
            <a:ext cx="320040" cy="3200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32" name="Text 26"/>
          <p:cNvSpPr/>
          <p:nvPr/>
        </p:nvSpPr>
        <p:spPr>
          <a:xfrm>
            <a:off x="7571232" y="155448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33" name="Text 27"/>
          <p:cNvSpPr/>
          <p:nvPr/>
        </p:nvSpPr>
        <p:spPr>
          <a:xfrm>
            <a:off x="7114032" y="1965960"/>
            <a:ext cx="1234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 output</a:t>
            </a:r>
            <a:endParaRPr lang="en-US" sz="1200" dirty="0"/>
          </a:p>
        </p:txBody>
      </p:sp>
      <p:sp>
        <p:nvSpPr>
          <p:cNvPr id="34" name="Text 28"/>
          <p:cNvSpPr/>
          <p:nvPr/>
        </p:nvSpPr>
        <p:spPr>
          <a:xfrm>
            <a:off x="7114032" y="2286000"/>
            <a:ext cx="1234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Checklist + fixes + PR description</a:t>
            </a:r>
            <a:endParaRPr lang="en-US" sz="900" dirty="0"/>
          </a:p>
        </p:txBody>
      </p:sp>
      <p:sp>
        <p:nvSpPr>
          <p:cNvPr id="35" name="Shape 29"/>
          <p:cNvSpPr/>
          <p:nvPr/>
        </p:nvSpPr>
        <p:spPr>
          <a:xfrm>
            <a:off x="731520" y="3383280"/>
            <a:ext cx="3749040" cy="10515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36" name="Shape 30"/>
          <p:cNvSpPr/>
          <p:nvPr/>
        </p:nvSpPr>
        <p:spPr>
          <a:xfrm>
            <a:off x="731520" y="3383280"/>
            <a:ext cx="3749040" cy="5486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37" name="Text 31"/>
          <p:cNvSpPr/>
          <p:nvPr/>
        </p:nvSpPr>
        <p:spPr>
          <a:xfrm>
            <a:off x="1005840" y="3493008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POLICY ENFORCEMENT</a:t>
            </a:r>
            <a:endParaRPr lang="en-US" sz="1000" dirty="0"/>
          </a:p>
        </p:txBody>
      </p:sp>
      <p:sp>
        <p:nvSpPr>
          <p:cNvPr id="38" name="Text 32"/>
          <p:cNvSpPr/>
          <p:nvPr/>
        </p:nvSpPr>
        <p:spPr>
          <a:xfrm>
            <a:off x="1005840" y="3703320"/>
            <a:ext cx="3383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hardcoded secrets · PII sanitization</a:t>
            </a:r>
            <a:endParaRPr lang="en-US" sz="11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validation · Auth checks · Conv. commits</a:t>
            </a:r>
            <a:endParaRPr lang="en-US" sz="1100" dirty="0"/>
          </a:p>
        </p:txBody>
      </p:sp>
      <p:sp>
        <p:nvSpPr>
          <p:cNvPr id="39" name="Shape 33"/>
          <p:cNvSpPr/>
          <p:nvPr/>
        </p:nvSpPr>
        <p:spPr>
          <a:xfrm>
            <a:off x="4663440" y="3383280"/>
            <a:ext cx="3749040" cy="10515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40" name="Shape 34"/>
          <p:cNvSpPr/>
          <p:nvPr/>
        </p:nvSpPr>
        <p:spPr>
          <a:xfrm>
            <a:off x="4663440" y="3383280"/>
            <a:ext cx="3749040" cy="5486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41" name="Text 35"/>
          <p:cNvSpPr/>
          <p:nvPr/>
        </p:nvSpPr>
        <p:spPr>
          <a:xfrm>
            <a:off x="4937760" y="3493008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AUTO-GENERATED OUTPUT</a:t>
            </a:r>
            <a:endParaRPr lang="en-US" sz="1000" dirty="0"/>
          </a:p>
        </p:txBody>
      </p:sp>
      <p:sp>
        <p:nvSpPr>
          <p:cNvPr id="42" name="Text 36"/>
          <p:cNvSpPr/>
          <p:nvPr/>
        </p:nvSpPr>
        <p:spPr>
          <a:xfrm>
            <a:off x="4937760" y="3703320"/>
            <a:ext cx="3383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PASS/FAIL checklist · Suggested fixes</a:t>
            </a:r>
            <a:endParaRPr lang="en-US" sz="11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 description draft · Reviewer summary</a:t>
            </a:r>
            <a:endParaRPr lang="en-US" sz="1100" dirty="0"/>
          </a:p>
        </p:txBody>
      </p:sp>
      <p:sp>
        <p:nvSpPr>
          <p:cNvPr id="43" name="Shape 37"/>
          <p:cNvSpPr/>
          <p:nvPr/>
        </p:nvSpPr>
        <p:spPr>
          <a:xfrm>
            <a:off x="731520" y="4526280"/>
            <a:ext cx="7680960" cy="502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44" name="Shape 38"/>
          <p:cNvSpPr/>
          <p:nvPr/>
        </p:nvSpPr>
        <p:spPr>
          <a:xfrm>
            <a:off x="731520" y="4526280"/>
            <a:ext cx="64008" cy="502920"/>
          </a:xfrm>
          <a:prstGeom prst="rect">
            <a:avLst/>
          </a:prstGeom>
          <a:solidFill>
            <a:srgbClr val="F59E0B"/>
          </a:solidFill>
          <a:ln/>
        </p:spPr>
      </p:sp>
      <p:pic>
        <p:nvPicPr>
          <p:cNvPr id="45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400" y="4599432"/>
            <a:ext cx="274320" cy="274320"/>
          </a:xfrm>
          <a:prstGeom prst="rect">
            <a:avLst/>
          </a:prstGeom>
        </p:spPr>
      </p:pic>
      <p:sp>
        <p:nvSpPr>
          <p:cNvPr id="46" name="Text 39"/>
          <p:cNvSpPr/>
          <p:nvPr/>
        </p:nvSpPr>
        <p:spPr>
          <a:xfrm>
            <a:off x="1280160" y="455371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KNOWN LIMIT</a:t>
            </a:r>
            <a:endParaRPr lang="en-US" sz="900" dirty="0"/>
          </a:p>
        </p:txBody>
      </p:sp>
      <p:sp>
        <p:nvSpPr>
          <p:cNvPr id="47" name="Text 40"/>
          <p:cNvSpPr/>
          <p:nvPr/>
        </p:nvSpPr>
        <p:spPr>
          <a:xfrm>
            <a:off x="1280160" y="4736592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 CLI can't post inline PR comments yet — summary goes to terminal, paste into ADO or script via REST.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828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Pillar 4  |  Part 4 of 4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31520" y="45720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Showcase: Checkmarx Remediation Skill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31520" y="91440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findings become fixable, not just a long list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1417320"/>
            <a:ext cx="7680960" cy="822960"/>
          </a:xfrm>
          <a:prstGeom prst="rect">
            <a:avLst/>
          </a:prstGeom>
          <a:solidFill>
            <a:srgbClr val="1E293B"/>
          </a:solidFill>
          <a:ln/>
        </p:spPr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1645920"/>
            <a:ext cx="365760" cy="36576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417320" y="150876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1417320" y="1737360"/>
            <a:ext cx="676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Checkmarx scan returns 12 findings across your C# backend. Engineer faces a wall of SAST output — severity mixed, context missing, fixes unclear.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731520" y="2423160"/>
            <a:ext cx="1828800" cy="1463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1463040" y="2560320"/>
            <a:ext cx="320040" cy="3200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2" name="Text 9"/>
          <p:cNvSpPr/>
          <p:nvPr/>
        </p:nvSpPr>
        <p:spPr>
          <a:xfrm>
            <a:off x="1463040" y="25603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822960" y="297180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 report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822960" y="3246120"/>
            <a:ext cx="1645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 reads Checkmarx output</a:t>
            </a:r>
            <a:endParaRPr lang="en-US" sz="1000" dirty="0"/>
          </a:p>
        </p:txBody>
      </p:sp>
      <p:pic>
        <p:nvPicPr>
          <p:cNvPr id="15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0" y="3063240"/>
            <a:ext cx="155448" cy="155448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2697480" y="2423160"/>
            <a:ext cx="1828800" cy="1463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3429000" y="2560320"/>
            <a:ext cx="320040" cy="3200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8" name="Text 14"/>
          <p:cNvSpPr/>
          <p:nvPr/>
        </p:nvSpPr>
        <p:spPr>
          <a:xfrm>
            <a:off x="3429000" y="25603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9" name="Text 15"/>
          <p:cNvSpPr/>
          <p:nvPr/>
        </p:nvSpPr>
        <p:spPr>
          <a:xfrm>
            <a:off x="2788920" y="297180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Prioritize</a:t>
            </a:r>
            <a:endParaRPr lang="en-US" sz="1200" dirty="0"/>
          </a:p>
        </p:txBody>
      </p:sp>
      <p:sp>
        <p:nvSpPr>
          <p:cNvPr id="20" name="Text 16"/>
          <p:cNvSpPr/>
          <p:nvPr/>
        </p:nvSpPr>
        <p:spPr>
          <a:xfrm>
            <a:off x="2788920" y="3246120"/>
            <a:ext cx="1645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 by severity + exploitability</a:t>
            </a:r>
            <a:endParaRPr lang="en-US" sz="1000" dirty="0"/>
          </a:p>
        </p:txBody>
      </p:sp>
      <p:pic>
        <p:nvPicPr>
          <p:cNvPr id="21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26280" y="3063240"/>
            <a:ext cx="155448" cy="155448"/>
          </a:xfrm>
          <a:prstGeom prst="rect">
            <a:avLst/>
          </a:prstGeom>
        </p:spPr>
      </p:pic>
      <p:sp>
        <p:nvSpPr>
          <p:cNvPr id="22" name="Shape 17"/>
          <p:cNvSpPr/>
          <p:nvPr/>
        </p:nvSpPr>
        <p:spPr>
          <a:xfrm>
            <a:off x="4663440" y="2423160"/>
            <a:ext cx="1828800" cy="1463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5394960" y="2560320"/>
            <a:ext cx="320040" cy="3200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24" name="Text 19"/>
          <p:cNvSpPr/>
          <p:nvPr/>
        </p:nvSpPr>
        <p:spPr>
          <a:xfrm>
            <a:off x="5394960" y="25603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25" name="Text 20"/>
          <p:cNvSpPr/>
          <p:nvPr/>
        </p:nvSpPr>
        <p:spPr>
          <a:xfrm>
            <a:off x="4754880" y="297180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 fixes</a:t>
            </a:r>
            <a:endParaRPr lang="en-US" sz="1200" dirty="0"/>
          </a:p>
        </p:txBody>
      </p:sp>
      <p:sp>
        <p:nvSpPr>
          <p:cNvPr id="26" name="Text 21"/>
          <p:cNvSpPr/>
          <p:nvPr/>
        </p:nvSpPr>
        <p:spPr>
          <a:xfrm>
            <a:off x="4754880" y="3246120"/>
            <a:ext cx="1645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Per-finding, code-aware</a:t>
            </a:r>
            <a:endParaRPr lang="en-US" sz="1000" dirty="0"/>
          </a:p>
        </p:txBody>
      </p:sp>
      <p:pic>
        <p:nvPicPr>
          <p:cNvPr id="27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92240" y="3063240"/>
            <a:ext cx="155448" cy="155448"/>
          </a:xfrm>
          <a:prstGeom prst="rect">
            <a:avLst/>
          </a:prstGeom>
        </p:spPr>
      </p:pic>
      <p:sp>
        <p:nvSpPr>
          <p:cNvPr id="28" name="Shape 22"/>
          <p:cNvSpPr/>
          <p:nvPr/>
        </p:nvSpPr>
        <p:spPr>
          <a:xfrm>
            <a:off x="6629400" y="2423160"/>
            <a:ext cx="1828800" cy="1463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9" name="Shape 23"/>
          <p:cNvSpPr/>
          <p:nvPr/>
        </p:nvSpPr>
        <p:spPr>
          <a:xfrm>
            <a:off x="7360920" y="2560320"/>
            <a:ext cx="320040" cy="3200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30" name="Text 24"/>
          <p:cNvSpPr/>
          <p:nvPr/>
        </p:nvSpPr>
        <p:spPr>
          <a:xfrm>
            <a:off x="7360920" y="25603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31" name="Text 25"/>
          <p:cNvSpPr/>
          <p:nvPr/>
        </p:nvSpPr>
        <p:spPr>
          <a:xfrm>
            <a:off x="6720840" y="297180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</a:t>
            </a:r>
            <a:endParaRPr lang="en-US" sz="1200" dirty="0"/>
          </a:p>
        </p:txBody>
      </p:sp>
      <p:sp>
        <p:nvSpPr>
          <p:cNvPr id="32" name="Text 26"/>
          <p:cNvSpPr/>
          <p:nvPr/>
        </p:nvSpPr>
        <p:spPr>
          <a:xfrm>
            <a:off x="6720840" y="3246120"/>
            <a:ext cx="1645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Re-check each fix matches policy</a:t>
            </a:r>
            <a:endParaRPr lang="en-US" sz="1000" dirty="0"/>
          </a:p>
        </p:txBody>
      </p:sp>
      <p:sp>
        <p:nvSpPr>
          <p:cNvPr id="33" name="Shape 27"/>
          <p:cNvSpPr/>
          <p:nvPr/>
        </p:nvSpPr>
        <p:spPr>
          <a:xfrm>
            <a:off x="731520" y="4023360"/>
            <a:ext cx="7680960" cy="777240"/>
          </a:xfrm>
          <a:prstGeom prst="rect">
            <a:avLst/>
          </a:prstGeom>
          <a:solidFill>
            <a:srgbClr val="0EA5E9"/>
          </a:solidFill>
          <a:ln/>
        </p:spPr>
      </p:sp>
      <p:pic>
        <p:nvPicPr>
          <p:cNvPr id="34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400" y="4160520"/>
            <a:ext cx="320040" cy="320040"/>
          </a:xfrm>
          <a:prstGeom prst="rect">
            <a:avLst/>
          </a:prstGeom>
        </p:spPr>
      </p:pic>
      <p:sp>
        <p:nvSpPr>
          <p:cNvPr id="35" name="Text 28"/>
          <p:cNvSpPr/>
          <p:nvPr/>
        </p:nvSpPr>
        <p:spPr>
          <a:xfrm>
            <a:off x="1371600" y="411480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TEAM LEAD ANGLE</a:t>
            </a:r>
            <a:endParaRPr lang="en-US" sz="1000" dirty="0"/>
          </a:p>
        </p:txBody>
      </p:sp>
      <p:sp>
        <p:nvSpPr>
          <p:cNvPr id="36" name="Text 29"/>
          <p:cNvSpPr/>
          <p:nvPr/>
        </p:nvSpPr>
        <p:spPr>
          <a:xfrm>
            <a:off x="1371600" y="4343400"/>
            <a:ext cx="6766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security team's expertise becomes a shareable skill. Every engineer handles Checkmarx findings the same way — your way.</a:t>
            </a:r>
            <a:endParaRPr lang="en-US" sz="1200" dirty="0"/>
          </a:p>
        </p:txBody>
      </p:sp>
      <p:pic>
        <p:nvPicPr>
          <p:cNvPr id="37" name="Image 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4846320"/>
            <a:ext cx="274320" cy="274320"/>
          </a:xfrm>
          <a:prstGeom prst="rect">
            <a:avLst/>
          </a:prstGeom>
        </p:spPr>
      </p:pic>
      <p:sp>
        <p:nvSpPr>
          <p:cNvPr id="38" name="Text 30"/>
          <p:cNvSpPr/>
          <p:nvPr/>
        </p:nvSpPr>
        <p:spPr>
          <a:xfrm>
            <a:off x="1097280" y="4846320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pattern as pr-review — different domain. Skills compose, don't multiply complexity.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828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Pillar 5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31520" y="45720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Integration Choices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31520" y="91440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ways to connect AI to Azure DevOps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1371600"/>
            <a:ext cx="3749040" cy="23774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31520" y="1371600"/>
            <a:ext cx="3749040" cy="5486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150876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 SKILL (RECOMMENDED)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005840" y="1783080"/>
            <a:ext cx="32004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Loads on-demand — context stays clean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Uses az CLI under the hood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Covers: work items, PRs, pipelines, wiki,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  releases, artifacts, security/admin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Install: npx skills add ... azure-devops-cli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663440" y="1371600"/>
            <a:ext cx="3749040" cy="23774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63440" y="1371600"/>
            <a:ext cx="3749040" cy="5486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12" name="Text 10"/>
          <p:cNvSpPr/>
          <p:nvPr/>
        </p:nvSpPr>
        <p:spPr>
          <a:xfrm>
            <a:off x="4937760" y="150876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SERVER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937760" y="1783080"/>
            <a:ext cx="32004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88 tools registered at startup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Rich: test plans, code search,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  advanced security alerts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Higher context cost — use domains to limit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Microsoft-maintained (@azure-devops/mcp)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731520" y="3977640"/>
            <a:ext cx="7680960" cy="45720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15" name="Text 13"/>
          <p:cNvSpPr/>
          <p:nvPr/>
        </p:nvSpPr>
        <p:spPr>
          <a:xfrm>
            <a:off x="914400" y="3977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 Skill = occasional ADO during coding  |  MCP = heavy, continuous ADO interaction</a:t>
            </a:r>
            <a:endParaRPr lang="en-US" sz="1200" dirty="0"/>
          </a:p>
        </p:txBody>
      </p:sp>
      <p:pic>
        <p:nvPicPr>
          <p:cNvPr id="16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4572000"/>
            <a:ext cx="274320" cy="274320"/>
          </a:xfrm>
          <a:prstGeom prst="rect">
            <a:avLst/>
          </a:prstGeom>
        </p:spPr>
      </p:pic>
      <p:sp>
        <p:nvSpPr>
          <p:cNvPr id="17" name="Text 14"/>
          <p:cNvSpPr/>
          <p:nvPr/>
        </p:nvSpPr>
        <p:spPr>
          <a:xfrm>
            <a:off x="1097280" y="4572000"/>
            <a:ext cx="6858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with CLI Skill. Graduate to MCP only when the tool surface justifies the context cost.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828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Pillar 6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31520" y="45720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Automation — In Your Pipeline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31520" y="91440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runs without you — the bridge from tool to pipeline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1371600"/>
            <a:ext cx="7680960" cy="45720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13716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copilot -p "prompt" — one-shot, no interaction, scriptable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31520" y="196596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 AI-AUGMENTED CI STEP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731520" y="2286000"/>
            <a:ext cx="1417320" cy="12344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731520" y="2286000"/>
            <a:ext cx="1417320" cy="5486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11" name="Text 9"/>
          <p:cNvSpPr/>
          <p:nvPr/>
        </p:nvSpPr>
        <p:spPr>
          <a:xfrm>
            <a:off x="731520" y="2377440"/>
            <a:ext cx="1417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31520" y="2606040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Checkout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777240" y="2880360"/>
            <a:ext cx="1325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clone + checkout branch</a:t>
            </a:r>
            <a:endParaRPr lang="en-US" sz="900" dirty="0"/>
          </a:p>
        </p:txBody>
      </p:sp>
      <p:pic>
        <p:nvPicPr>
          <p:cNvPr id="14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48840" y="2834640"/>
            <a:ext cx="155448" cy="155448"/>
          </a:xfrm>
          <a:prstGeom prst="rect">
            <a:avLst/>
          </a:prstGeom>
        </p:spPr>
      </p:pic>
      <p:sp>
        <p:nvSpPr>
          <p:cNvPr id="15" name="Shape 12"/>
          <p:cNvSpPr/>
          <p:nvPr/>
        </p:nvSpPr>
        <p:spPr>
          <a:xfrm>
            <a:off x="2304288" y="2286000"/>
            <a:ext cx="1417320" cy="12344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2304288" y="2286000"/>
            <a:ext cx="1417320" cy="5486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17" name="Text 14"/>
          <p:cNvSpPr/>
          <p:nvPr/>
        </p:nvSpPr>
        <p:spPr>
          <a:xfrm>
            <a:off x="2304288" y="2377440"/>
            <a:ext cx="1417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2304288" y="2606040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Agent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2350008" y="2880360"/>
            <a:ext cx="1325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copilot -p "Review staged"</a:t>
            </a:r>
            <a:endParaRPr lang="en-US" sz="900" dirty="0"/>
          </a:p>
        </p:txBody>
      </p:sp>
      <p:pic>
        <p:nvPicPr>
          <p:cNvPr id="20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21608" y="2834640"/>
            <a:ext cx="155448" cy="155448"/>
          </a:xfrm>
          <a:prstGeom prst="rect">
            <a:avLst/>
          </a:prstGeom>
        </p:spPr>
      </p:pic>
      <p:sp>
        <p:nvSpPr>
          <p:cNvPr id="21" name="Shape 17"/>
          <p:cNvSpPr/>
          <p:nvPr/>
        </p:nvSpPr>
        <p:spPr>
          <a:xfrm>
            <a:off x="3877056" y="2286000"/>
            <a:ext cx="1417320" cy="12344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2" name="Shape 18"/>
          <p:cNvSpPr/>
          <p:nvPr/>
        </p:nvSpPr>
        <p:spPr>
          <a:xfrm>
            <a:off x="3877056" y="2286000"/>
            <a:ext cx="1417320" cy="5486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23" name="Text 19"/>
          <p:cNvSpPr/>
          <p:nvPr/>
        </p:nvSpPr>
        <p:spPr>
          <a:xfrm>
            <a:off x="3877056" y="2377440"/>
            <a:ext cx="1417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24" name="Text 20"/>
          <p:cNvSpPr/>
          <p:nvPr/>
        </p:nvSpPr>
        <p:spPr>
          <a:xfrm>
            <a:off x="3877056" y="2606040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</a:t>
            </a:r>
            <a:endParaRPr lang="en-US" sz="1200" dirty="0"/>
          </a:p>
        </p:txBody>
      </p:sp>
      <p:sp>
        <p:nvSpPr>
          <p:cNvPr id="25" name="Text 21"/>
          <p:cNvSpPr/>
          <p:nvPr/>
        </p:nvSpPr>
        <p:spPr>
          <a:xfrm>
            <a:off x="3922776" y="2880360"/>
            <a:ext cx="1325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Write changes / annotations</a:t>
            </a:r>
            <a:endParaRPr lang="en-US" sz="900" dirty="0"/>
          </a:p>
        </p:txBody>
      </p:sp>
      <p:pic>
        <p:nvPicPr>
          <p:cNvPr id="26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94376" y="2834640"/>
            <a:ext cx="155448" cy="155448"/>
          </a:xfrm>
          <a:prstGeom prst="rect">
            <a:avLst/>
          </a:prstGeom>
        </p:spPr>
      </p:pic>
      <p:sp>
        <p:nvSpPr>
          <p:cNvPr id="27" name="Shape 22"/>
          <p:cNvSpPr/>
          <p:nvPr/>
        </p:nvSpPr>
        <p:spPr>
          <a:xfrm>
            <a:off x="5449824" y="2286000"/>
            <a:ext cx="1417320" cy="12344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8" name="Shape 23"/>
          <p:cNvSpPr/>
          <p:nvPr/>
        </p:nvSpPr>
        <p:spPr>
          <a:xfrm>
            <a:off x="5449824" y="2286000"/>
            <a:ext cx="1417320" cy="5486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29" name="Text 24"/>
          <p:cNvSpPr/>
          <p:nvPr/>
        </p:nvSpPr>
        <p:spPr>
          <a:xfrm>
            <a:off x="5449824" y="2377440"/>
            <a:ext cx="1417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30" name="Text 25"/>
          <p:cNvSpPr/>
          <p:nvPr/>
        </p:nvSpPr>
        <p:spPr>
          <a:xfrm>
            <a:off x="5449824" y="2606040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</a:t>
            </a:r>
            <a:endParaRPr lang="en-US" sz="1200" dirty="0"/>
          </a:p>
        </p:txBody>
      </p:sp>
      <p:sp>
        <p:nvSpPr>
          <p:cNvPr id="31" name="Text 26"/>
          <p:cNvSpPr/>
          <p:nvPr/>
        </p:nvSpPr>
        <p:spPr>
          <a:xfrm>
            <a:off x="5495544" y="2880360"/>
            <a:ext cx="1325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dotnet test / npm test</a:t>
            </a:r>
            <a:endParaRPr lang="en-US" sz="900" dirty="0"/>
          </a:p>
        </p:txBody>
      </p:sp>
      <p:pic>
        <p:nvPicPr>
          <p:cNvPr id="32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67144" y="2834640"/>
            <a:ext cx="155448" cy="155448"/>
          </a:xfrm>
          <a:prstGeom prst="rect">
            <a:avLst/>
          </a:prstGeom>
        </p:spPr>
      </p:pic>
      <p:sp>
        <p:nvSpPr>
          <p:cNvPr id="33" name="Shape 27"/>
          <p:cNvSpPr/>
          <p:nvPr/>
        </p:nvSpPr>
        <p:spPr>
          <a:xfrm>
            <a:off x="7022592" y="2286000"/>
            <a:ext cx="1417320" cy="12344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34" name="Shape 28"/>
          <p:cNvSpPr/>
          <p:nvPr/>
        </p:nvSpPr>
        <p:spPr>
          <a:xfrm>
            <a:off x="7022592" y="2286000"/>
            <a:ext cx="1417320" cy="5486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35" name="Text 29"/>
          <p:cNvSpPr/>
          <p:nvPr/>
        </p:nvSpPr>
        <p:spPr>
          <a:xfrm>
            <a:off x="7022592" y="2377440"/>
            <a:ext cx="1417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36" name="Text 30"/>
          <p:cNvSpPr/>
          <p:nvPr/>
        </p:nvSpPr>
        <p:spPr>
          <a:xfrm>
            <a:off x="7022592" y="2606040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</a:t>
            </a:r>
            <a:endParaRPr lang="en-US" sz="1200" dirty="0"/>
          </a:p>
        </p:txBody>
      </p:sp>
      <p:sp>
        <p:nvSpPr>
          <p:cNvPr id="37" name="Text 31"/>
          <p:cNvSpPr/>
          <p:nvPr/>
        </p:nvSpPr>
        <p:spPr>
          <a:xfrm>
            <a:off x="7068312" y="2880360"/>
            <a:ext cx="1325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commit or fail the build</a:t>
            </a:r>
            <a:endParaRPr lang="en-US" sz="900" dirty="0"/>
          </a:p>
        </p:txBody>
      </p:sp>
      <p:sp>
        <p:nvSpPr>
          <p:cNvPr id="38" name="Text 32"/>
          <p:cNvSpPr/>
          <p:nvPr/>
        </p:nvSpPr>
        <p:spPr>
          <a:xfrm>
            <a:off x="731520" y="379476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AUTOMATION EXAMPLES</a:t>
            </a:r>
            <a:endParaRPr lang="en-US" sz="1000" dirty="0"/>
          </a:p>
        </p:txBody>
      </p:sp>
      <p:sp>
        <p:nvSpPr>
          <p:cNvPr id="39" name="Shape 33"/>
          <p:cNvSpPr/>
          <p:nvPr/>
        </p:nvSpPr>
        <p:spPr>
          <a:xfrm>
            <a:off x="731520" y="4069080"/>
            <a:ext cx="1828800" cy="7315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40" name="Shape 34"/>
          <p:cNvSpPr/>
          <p:nvPr/>
        </p:nvSpPr>
        <p:spPr>
          <a:xfrm>
            <a:off x="731520" y="4069080"/>
            <a:ext cx="64008" cy="731520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41" name="Text 35"/>
          <p:cNvSpPr/>
          <p:nvPr/>
        </p:nvSpPr>
        <p:spPr>
          <a:xfrm>
            <a:off x="868680" y="411480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 Messages</a:t>
            </a:r>
            <a:endParaRPr lang="en-US" sz="1100" dirty="0"/>
          </a:p>
        </p:txBody>
      </p:sp>
      <p:sp>
        <p:nvSpPr>
          <p:cNvPr id="42" name="Text 36"/>
          <p:cNvSpPr/>
          <p:nvPr/>
        </p:nvSpPr>
        <p:spPr>
          <a:xfrm>
            <a:off x="868680" y="438912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copilot -p "..." &lt; diff</a:t>
            </a:r>
            <a:endParaRPr lang="en-US" sz="900" dirty="0"/>
          </a:p>
        </p:txBody>
      </p:sp>
      <p:sp>
        <p:nvSpPr>
          <p:cNvPr id="43" name="Shape 37"/>
          <p:cNvSpPr/>
          <p:nvPr/>
        </p:nvSpPr>
        <p:spPr>
          <a:xfrm>
            <a:off x="2697480" y="4069080"/>
            <a:ext cx="1828800" cy="7315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44" name="Shape 38"/>
          <p:cNvSpPr/>
          <p:nvPr/>
        </p:nvSpPr>
        <p:spPr>
          <a:xfrm>
            <a:off x="2697480" y="4069080"/>
            <a:ext cx="64008" cy="731520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45" name="Text 39"/>
          <p:cNvSpPr/>
          <p:nvPr/>
        </p:nvSpPr>
        <p:spPr>
          <a:xfrm>
            <a:off x="2834640" y="411480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 Descriptions</a:t>
            </a:r>
            <a:endParaRPr lang="en-US" sz="1100" dirty="0"/>
          </a:p>
        </p:txBody>
      </p:sp>
      <p:sp>
        <p:nvSpPr>
          <p:cNvPr id="46" name="Text 40"/>
          <p:cNvSpPr/>
          <p:nvPr/>
        </p:nvSpPr>
        <p:spPr>
          <a:xfrm>
            <a:off x="2834640" y="438912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log | copilot -p "..."</a:t>
            </a:r>
            <a:endParaRPr lang="en-US" sz="900" dirty="0"/>
          </a:p>
        </p:txBody>
      </p:sp>
      <p:sp>
        <p:nvSpPr>
          <p:cNvPr id="47" name="Shape 41"/>
          <p:cNvSpPr/>
          <p:nvPr/>
        </p:nvSpPr>
        <p:spPr>
          <a:xfrm>
            <a:off x="4663440" y="4069080"/>
            <a:ext cx="1828800" cy="7315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48" name="Shape 42"/>
          <p:cNvSpPr/>
          <p:nvPr/>
        </p:nvSpPr>
        <p:spPr>
          <a:xfrm>
            <a:off x="4663440" y="4069080"/>
            <a:ext cx="64008" cy="731520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49" name="Text 43"/>
          <p:cNvSpPr/>
          <p:nvPr/>
        </p:nvSpPr>
        <p:spPr>
          <a:xfrm>
            <a:off x="4800600" y="411480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Pre-commit Checks</a:t>
            </a:r>
            <a:endParaRPr lang="en-US" sz="1100" dirty="0"/>
          </a:p>
        </p:txBody>
      </p:sp>
      <p:sp>
        <p:nvSpPr>
          <p:cNvPr id="50" name="Text 44"/>
          <p:cNvSpPr/>
          <p:nvPr/>
        </p:nvSpPr>
        <p:spPr>
          <a:xfrm>
            <a:off x="4800600" y="438912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hook runs quality skill</a:t>
            </a:r>
            <a:endParaRPr lang="en-US" sz="900" dirty="0"/>
          </a:p>
        </p:txBody>
      </p:sp>
      <p:sp>
        <p:nvSpPr>
          <p:cNvPr id="51" name="Shape 45"/>
          <p:cNvSpPr/>
          <p:nvPr/>
        </p:nvSpPr>
        <p:spPr>
          <a:xfrm>
            <a:off x="6629400" y="4069080"/>
            <a:ext cx="1828800" cy="7315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52" name="Shape 46"/>
          <p:cNvSpPr/>
          <p:nvPr/>
        </p:nvSpPr>
        <p:spPr>
          <a:xfrm>
            <a:off x="6629400" y="4069080"/>
            <a:ext cx="64008" cy="731520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53" name="Text 47"/>
          <p:cNvSpPr/>
          <p:nvPr/>
        </p:nvSpPr>
        <p:spPr>
          <a:xfrm>
            <a:off x="6766560" y="411480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 Notes</a:t>
            </a:r>
            <a:endParaRPr lang="en-US" sz="1100" dirty="0"/>
          </a:p>
        </p:txBody>
      </p:sp>
      <p:sp>
        <p:nvSpPr>
          <p:cNvPr id="54" name="Text 48"/>
          <p:cNvSpPr/>
          <p:nvPr/>
        </p:nvSpPr>
        <p:spPr>
          <a:xfrm>
            <a:off x="6766560" y="438912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auto-gen from commits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F17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828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  |  Setup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31520" y="45720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Let's Work on a Real Project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31520" y="96012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Clone the demo repo. Run it. Everything that follows happens on real code.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1417320"/>
            <a:ext cx="4846320" cy="3383280"/>
          </a:xfrm>
          <a:prstGeom prst="rect">
            <a:avLst/>
          </a:prstGeom>
          <a:solidFill>
            <a:srgbClr val="1A2332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15087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 COMMANDS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914400" y="1828800"/>
            <a:ext cx="4663440" cy="2880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i="1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1. Clone the demo repo</a:t>
            </a:r>
            <a:endParaRPr lang="en-US" sz="11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clone &lt;demo-repo&gt; &amp;&amp; cd demo</a:t>
            </a:r>
            <a:endParaRPr lang="en-US" sz="1100" dirty="0"/>
          </a:p>
          <a:p>
            <a:pPr indent="0" marL="0">
              <a:lnSpc>
                <a:spcPct val="115000"/>
              </a:lnSpc>
              <a:buNone/>
            </a:pPr>
            <a:endParaRPr lang="en-US" sz="11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00" i="1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2. Install dependencies</a:t>
            </a:r>
            <a:endParaRPr lang="en-US" sz="11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npm install       # frontend (TS)</a:t>
            </a:r>
            <a:endParaRPr lang="en-US" sz="11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dotnet restore    # backend (C#)</a:t>
            </a:r>
            <a:endParaRPr lang="en-US" sz="1100" dirty="0"/>
          </a:p>
          <a:p>
            <a:pPr indent="0" marL="0">
              <a:lnSpc>
                <a:spcPct val="115000"/>
              </a:lnSpc>
              <a:buNone/>
            </a:pPr>
            <a:endParaRPr lang="en-US" sz="11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00" i="1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3. Authenticate with ADO</a:t>
            </a:r>
            <a:endParaRPr lang="en-US" sz="11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az login --use-device-code</a:t>
            </a:r>
            <a:endParaRPr lang="en-US" sz="1100" dirty="0"/>
          </a:p>
          <a:p>
            <a:pPr indent="0" marL="0">
              <a:lnSpc>
                <a:spcPct val="115000"/>
              </a:lnSpc>
              <a:buNone/>
            </a:pPr>
            <a:endParaRPr lang="en-US" sz="11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00" i="1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4. Start Copilot in the repo</a:t>
            </a:r>
            <a:endParaRPr lang="en-US" sz="11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copilot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760720" y="1417320"/>
            <a:ext cx="2651760" cy="3383280"/>
          </a:xfrm>
          <a:prstGeom prst="rect">
            <a:avLst/>
          </a:prstGeom>
          <a:solidFill>
            <a:srgbClr val="0EA5E9"/>
          </a:solidFill>
          <a:ln/>
        </p:spPr>
      </p:sp>
      <p:pic>
        <p:nvPicPr>
          <p:cNvPr id="10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0" y="1600200"/>
            <a:ext cx="365760" cy="36576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6400800" y="16002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A REAL REPO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943600" y="2103120"/>
            <a:ext cx="23317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Text-only examples teach concepts.</a:t>
            </a:r>
            <a:endParaRPr lang="en-US" sz="1200" dirty="0"/>
          </a:p>
          <a:p>
            <a:pPr indent="0" marL="0">
              <a:lnSpc>
                <a:spcPct val="140000"/>
              </a:lnSpc>
              <a:buNone/>
            </a:pPr>
            <a:endParaRPr lang="en-US" sz="12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code teaches judgment.</a:t>
            </a:r>
            <a:endParaRPr lang="en-US" sz="1200" dirty="0"/>
          </a:p>
          <a:p>
            <a:pPr indent="0" marL="0">
              <a:lnSpc>
                <a:spcPct val="140000"/>
              </a:lnSpc>
              <a:buNone/>
            </a:pPr>
            <a:endParaRPr lang="en-US" sz="12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reads your actual files, your actual conventions, your actual bugs.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F17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828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31520" y="45720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Design + Build a Skill — Together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731520" y="100584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 minutes  ·  Facilitator-led  ·  You leave with a working artifact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731520" y="1554480"/>
            <a:ext cx="7680960" cy="914400"/>
          </a:xfrm>
          <a:prstGeom prst="rect">
            <a:avLst/>
          </a:prstGeom>
          <a:solidFill>
            <a:srgbClr val="1A2332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164592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GOAL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914400" y="187452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one real, working skill in the demo repo — from scratch, together.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end: your repo has a skill that auto-triggers and produces consistent output.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31520" y="2651760"/>
            <a:ext cx="2514600" cy="1920240"/>
          </a:xfrm>
          <a:prstGeom prst="rect">
            <a:avLst/>
          </a:prstGeom>
          <a:solidFill>
            <a:srgbClr val="1A2332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0" y="2651760"/>
            <a:ext cx="2514600" cy="5486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11" name="Shape 9"/>
          <p:cNvSpPr/>
          <p:nvPr/>
        </p:nvSpPr>
        <p:spPr>
          <a:xfrm>
            <a:off x="868680" y="2834640"/>
            <a:ext cx="320040" cy="3200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2" name="Text 10"/>
          <p:cNvSpPr/>
          <p:nvPr/>
        </p:nvSpPr>
        <p:spPr>
          <a:xfrm>
            <a:off x="868680" y="283464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280160" y="283464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68680" y="324612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868680" y="352044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the task</a:t>
            </a:r>
            <a:endParaRPr lang="en-US" sz="11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description</a:t>
            </a:r>
            <a:endParaRPr lang="en-US" sz="11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 the steps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429000" y="2651760"/>
            <a:ext cx="2514600" cy="1920240"/>
          </a:xfrm>
          <a:prstGeom prst="rect">
            <a:avLst/>
          </a:prstGeom>
          <a:solidFill>
            <a:srgbClr val="1A2332"/>
          </a:solidFill>
          <a:ln/>
        </p:spPr>
      </p:sp>
      <p:sp>
        <p:nvSpPr>
          <p:cNvPr id="17" name="Shape 15"/>
          <p:cNvSpPr/>
          <p:nvPr/>
        </p:nvSpPr>
        <p:spPr>
          <a:xfrm>
            <a:off x="3429000" y="2651760"/>
            <a:ext cx="2514600" cy="5486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18" name="Shape 16"/>
          <p:cNvSpPr/>
          <p:nvPr/>
        </p:nvSpPr>
        <p:spPr>
          <a:xfrm>
            <a:off x="3566160" y="2834640"/>
            <a:ext cx="320040" cy="3200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9" name="Text 17"/>
          <p:cNvSpPr/>
          <p:nvPr/>
        </p:nvSpPr>
        <p:spPr>
          <a:xfrm>
            <a:off x="3566160" y="283464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3977640" y="283464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3566160" y="324612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min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3566160" y="352044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SKILL.md</a:t>
            </a:r>
            <a:endParaRPr lang="en-US" sz="11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Fill in the checklist</a:t>
            </a:r>
            <a:endParaRPr lang="en-US" sz="11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 to .github/skills/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126480" y="2651760"/>
            <a:ext cx="2514600" cy="1920240"/>
          </a:xfrm>
          <a:prstGeom prst="rect">
            <a:avLst/>
          </a:prstGeom>
          <a:solidFill>
            <a:srgbClr val="1A2332"/>
          </a:solidFill>
          <a:ln/>
        </p:spPr>
      </p:sp>
      <p:sp>
        <p:nvSpPr>
          <p:cNvPr id="24" name="Shape 22"/>
          <p:cNvSpPr/>
          <p:nvPr/>
        </p:nvSpPr>
        <p:spPr>
          <a:xfrm>
            <a:off x="6126480" y="2651760"/>
            <a:ext cx="2514600" cy="5486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25" name="Shape 23"/>
          <p:cNvSpPr/>
          <p:nvPr/>
        </p:nvSpPr>
        <p:spPr>
          <a:xfrm>
            <a:off x="6263640" y="2834640"/>
            <a:ext cx="320040" cy="3200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26" name="Text 24"/>
          <p:cNvSpPr/>
          <p:nvPr/>
        </p:nvSpPr>
        <p:spPr>
          <a:xfrm>
            <a:off x="6263640" y="283464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675120" y="283464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6263640" y="324612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263640" y="352044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Trigger with natural prompt</a:t>
            </a:r>
            <a:endParaRPr lang="en-US" sz="11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 it loads</a:t>
            </a:r>
            <a:endParaRPr lang="en-US" sz="11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Iterate on description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731520" y="4709160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 home: a working skill, a pattern to replicate, the confidence to create more.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828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  |  Phase 1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31520" y="45720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Your Skills-Creator Moment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31520" y="91440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we build together — what skill would YOUR team benefit from most?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1417320"/>
            <a:ext cx="3749040" cy="31089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31520" y="1417320"/>
            <a:ext cx="3749040" cy="5486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155448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YOURSELF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005840" y="1828800"/>
            <a:ext cx="32004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30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do I explain to new engineers repeatedly?</a:t>
            </a:r>
            <a:endParaRPr lang="en-US" sz="1200" dirty="0"/>
          </a:p>
          <a:p>
            <a:pPr marL="342900" indent="-342900">
              <a:lnSpc>
                <a:spcPct val="130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checklist do I mentally run every PR?</a:t>
            </a:r>
            <a:endParaRPr lang="en-US" sz="1200" dirty="0"/>
          </a:p>
          <a:p>
            <a:pPr marL="342900" indent="-342900">
              <a:lnSpc>
                <a:spcPct val="130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task always gets done differently by different people?</a:t>
            </a:r>
            <a:endParaRPr lang="en-US" sz="1200" dirty="0"/>
          </a:p>
          <a:p>
            <a:pPr marL="342900" indent="-342900">
              <a:lnSpc>
                <a:spcPct val="130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do I wish happened automatically?</a:t>
            </a:r>
            <a:endParaRPr lang="en-US" sz="1200" dirty="0"/>
          </a:p>
          <a:p>
            <a:pPr marL="342900" indent="-342900">
              <a:lnSpc>
                <a:spcPct val="130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procedure lives only in my head?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663440" y="1417320"/>
            <a:ext cx="3749040" cy="31089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63440" y="1417320"/>
            <a:ext cx="3749040" cy="5486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2" name="Text 10"/>
          <p:cNvSpPr/>
          <p:nvPr/>
        </p:nvSpPr>
        <p:spPr>
          <a:xfrm>
            <a:off x="4937760" y="155448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EXAMPLES FROM OTHER TEAMS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937760" y="1828800"/>
            <a:ext cx="32004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30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pr-review — team's PR quality checklist</a:t>
            </a:r>
            <a:endParaRPr lang="en-US" sz="1200" dirty="0"/>
          </a:p>
          <a:p>
            <a:pPr marL="342900" indent="-342900">
              <a:lnSpc>
                <a:spcPct val="130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checkmarx-remediation — SAST findings to fixes</a:t>
            </a:r>
            <a:endParaRPr lang="en-US" sz="1200" dirty="0"/>
          </a:p>
          <a:p>
            <a:pPr marL="342900" indent="-342900">
              <a:lnSpc>
                <a:spcPct val="130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incident-response — triage steps + comms</a:t>
            </a:r>
            <a:endParaRPr lang="en-US" sz="1200" dirty="0"/>
          </a:p>
          <a:p>
            <a:pPr marL="342900" indent="-342900">
              <a:lnSpc>
                <a:spcPct val="130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api-design — REST convention enforcement</a:t>
            </a:r>
            <a:endParaRPr lang="en-US" sz="1200" dirty="0"/>
          </a:p>
          <a:p>
            <a:pPr marL="342900" indent="-342900">
              <a:lnSpc>
                <a:spcPct val="130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migration-checklist — safe DB migrations</a:t>
            </a:r>
            <a:endParaRPr lang="en-US" sz="1200" dirty="0"/>
          </a:p>
          <a:p>
            <a:pPr marL="342900" indent="-342900">
              <a:lnSpc>
                <a:spcPct val="130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onboarding-tour — explain the codebase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31520" y="4663440"/>
            <a:ext cx="7680960" cy="36576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15" name="Text 13"/>
          <p:cNvSpPr/>
          <p:nvPr/>
        </p:nvSpPr>
        <p:spPr>
          <a:xfrm>
            <a:off x="914400" y="46634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idea down. We'll build one together — you'll leave knowing how to build yours.</a:t>
            </a:r>
            <a:endParaRPr lang="en-US" sz="13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F17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828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  |  Phases 2 + 3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31520" y="45720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Build + Test the Skill Together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31520" y="91440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Facilitator leads.  You follow on your cloned repo.  Ask questions freely.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1417320"/>
            <a:ext cx="7680960" cy="1188720"/>
          </a:xfrm>
          <a:prstGeom prst="rect">
            <a:avLst/>
          </a:prstGeom>
          <a:solidFill>
            <a:srgbClr val="1A2332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150876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WE'RE BUILDING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914400" y="173736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"pr-review" skill that auto-triggers on prompts like "Review this PR" or</a:t>
            </a:r>
            <a:endParaRPr lang="en-US" sz="13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"Is this ready to merge?" — enforcing your team's checklist every single time.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31520" y="2788920"/>
            <a:ext cx="7680960" cy="1828800"/>
          </a:xfrm>
          <a:prstGeom prst="rect">
            <a:avLst/>
          </a:prstGeom>
          <a:solidFill>
            <a:srgbClr val="1A2332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288036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STEP-BY-STEP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914400" y="3154680"/>
            <a:ext cx="7315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mkdir -p .github/skills/pr-review  &amp;&amp;  touch .github/skills/pr-review/SKILL.md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i="1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Add frontmatter (name, description)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i="1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Write the checklist — team-specific, not generic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i="1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Define output format (PASS/FAIL + suggested fixes)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 copilot  →  "Review the changes in this repo for a PR"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i="1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Verify the skill auto-triggered. Iterate on description if not.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31520" y="475488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 a committed .github/skills/pr-review/SKILL.md — yours to take to your real repos.</a:t>
            </a: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828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Distribution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31520" y="45720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Plugins — Ship It to the Whole Team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31520" y="91440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install bundles agents + skills + MCP setup for every engineer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1417320"/>
            <a:ext cx="374904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31520" y="1417320"/>
            <a:ext cx="3749040" cy="5486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155448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 PLUGIN BUNDLES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005840" y="1828800"/>
            <a:ext cx="32004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30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agents (specialists)</a:t>
            </a:r>
            <a:endParaRPr lang="en-US" sz="1200" dirty="0"/>
          </a:p>
          <a:p>
            <a:pPr marL="342900" indent="-342900">
              <a:lnSpc>
                <a:spcPct val="130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skills (repeatable tasks)</a:t>
            </a:r>
            <a:endParaRPr lang="en-US" sz="1200" dirty="0"/>
          </a:p>
          <a:p>
            <a:pPr marL="342900" indent="-342900">
              <a:lnSpc>
                <a:spcPct val="130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server configurations</a:t>
            </a:r>
            <a:endParaRPr lang="en-US" sz="1200" dirty="0"/>
          </a:p>
          <a:p>
            <a:pPr marL="342900" indent="-342900">
              <a:lnSpc>
                <a:spcPct val="130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Commands &amp; hooks</a:t>
            </a:r>
            <a:endParaRPr lang="en-US" sz="1200" dirty="0"/>
          </a:p>
          <a:p>
            <a:pPr marL="342900" indent="-342900">
              <a:lnSpc>
                <a:spcPct val="130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version-controlled together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663440" y="1417320"/>
            <a:ext cx="374904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63440" y="1417320"/>
            <a:ext cx="3749040" cy="5486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2" name="Text 10"/>
          <p:cNvSpPr/>
          <p:nvPr/>
        </p:nvSpPr>
        <p:spPr>
          <a:xfrm>
            <a:off x="4937760" y="155448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 FOR LEADS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937760" y="1828800"/>
            <a:ext cx="32004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30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Engineers install once — get everything</a:t>
            </a:r>
            <a:endParaRPr lang="en-US" sz="1200" dirty="0"/>
          </a:p>
          <a:p>
            <a:pPr marL="342900" indent="-342900">
              <a:lnSpc>
                <a:spcPct val="130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'did you copy the agent file?' friction</a:t>
            </a:r>
            <a:endParaRPr lang="en-US" sz="1200" dirty="0"/>
          </a:p>
          <a:p>
            <a:pPr marL="342900" indent="-342900">
              <a:lnSpc>
                <a:spcPct val="130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Updates propagate — fix once, team benefits</a:t>
            </a:r>
            <a:endParaRPr lang="en-US" sz="1200" dirty="0"/>
          </a:p>
          <a:p>
            <a:pPr marL="342900" indent="-342900">
              <a:lnSpc>
                <a:spcPct val="130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 across VS Code, Copilot CLI, etc.</a:t>
            </a:r>
            <a:endParaRPr lang="en-US" sz="1200" dirty="0"/>
          </a:p>
          <a:p>
            <a:pPr marL="342900" indent="-342900">
              <a:lnSpc>
                <a:spcPct val="130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team's AI system becomes a product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31520" y="3886200"/>
            <a:ext cx="7680960" cy="731520"/>
          </a:xfrm>
          <a:prstGeom prst="rect">
            <a:avLst/>
          </a:prstGeom>
          <a:solidFill>
            <a:srgbClr val="1E293B"/>
          </a:solidFill>
          <a:ln/>
        </p:spPr>
      </p:sp>
      <p:pic>
        <p:nvPicPr>
          <p:cNvPr id="15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4069080"/>
            <a:ext cx="365760" cy="365760"/>
          </a:xfrm>
          <a:prstGeom prst="rect">
            <a:avLst/>
          </a:prstGeom>
        </p:spPr>
      </p:pic>
      <p:sp>
        <p:nvSpPr>
          <p:cNvPr id="16" name="Text 13"/>
          <p:cNvSpPr/>
          <p:nvPr/>
        </p:nvSpPr>
        <p:spPr>
          <a:xfrm>
            <a:off x="1417320" y="402336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1417320" y="4251960"/>
            <a:ext cx="6766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 GEP plugin from VS Code UI → agents, skills, MCP appear automatically</a:t>
            </a:r>
            <a:endParaRPr lang="en-US" sz="1200" dirty="0"/>
          </a:p>
        </p:txBody>
      </p:sp>
      <p:pic>
        <p:nvPicPr>
          <p:cNvPr id="18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4709160"/>
            <a:ext cx="274320" cy="274320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1097280" y="4709160"/>
            <a:ext cx="7132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once. Ship as plugin. Every engineer benefits from day one.</a:t>
            </a:r>
            <a:endParaRPr lang="en-US" sz="1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Your Rollout Playbook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31520" y="1005840"/>
            <a:ext cx="1874520" cy="26517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1005840"/>
            <a:ext cx="1874520" cy="457200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005840"/>
            <a:ext cx="1874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31520" y="1216152"/>
            <a:ext cx="18745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68680" y="1600200"/>
            <a:ext cx="1600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AGENTS.md to repos</a:t>
            </a:r>
            <a:endParaRPr lang="en-US" sz="10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 docs/ folder</a:t>
            </a:r>
            <a:endParaRPr lang="en-US" sz="10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install instructions</a:t>
            </a:r>
            <a:endParaRPr lang="en-US" sz="10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 team subscriptions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788920" y="1005840"/>
            <a:ext cx="1874520" cy="26517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788920" y="1005840"/>
            <a:ext cx="1874520" cy="457200"/>
          </a:xfrm>
          <a:prstGeom prst="rect">
            <a:avLst/>
          </a:prstGeom>
          <a:solidFill>
            <a:srgbClr val="0284C7"/>
          </a:solidFill>
          <a:ln/>
        </p:spPr>
      </p:sp>
      <p:sp>
        <p:nvSpPr>
          <p:cNvPr id="11" name="Text 9"/>
          <p:cNvSpPr/>
          <p:nvPr/>
        </p:nvSpPr>
        <p:spPr>
          <a:xfrm>
            <a:off x="2788920" y="1005840"/>
            <a:ext cx="1874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788920" y="1216152"/>
            <a:ext cx="18745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&amp; Skills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926080" y="1600200"/>
            <a:ext cx="1600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1-2 daily-use agents</a:t>
            </a:r>
            <a:endParaRPr lang="en-US" sz="10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1 common skill</a:t>
            </a:r>
            <a:endParaRPr lang="en-US" sz="10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 in .github/ via git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846320" y="1005840"/>
            <a:ext cx="1874520" cy="26517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846320" y="1005840"/>
            <a:ext cx="1874520" cy="457200"/>
          </a:xfrm>
          <a:prstGeom prst="rect">
            <a:avLst/>
          </a:prstGeom>
          <a:solidFill>
            <a:srgbClr val="0369A1"/>
          </a:solidFill>
          <a:ln/>
        </p:spPr>
      </p:sp>
      <p:sp>
        <p:nvSpPr>
          <p:cNvPr id="16" name="Text 14"/>
          <p:cNvSpPr/>
          <p:nvPr/>
        </p:nvSpPr>
        <p:spPr>
          <a:xfrm>
            <a:off x="4846320" y="1005840"/>
            <a:ext cx="1874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846320" y="1216152"/>
            <a:ext cx="18745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Adoption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983480" y="1600200"/>
            <a:ext cx="1600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1-hour session for engineers</a:t>
            </a:r>
            <a:endParaRPr lang="en-US" sz="10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Establish /review habit</a:t>
            </a:r>
            <a:endParaRPr lang="en-US" sz="10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up programmatic mode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903720" y="1005840"/>
            <a:ext cx="1874520" cy="26517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903720" y="1005840"/>
            <a:ext cx="1874520" cy="457200"/>
          </a:xfrm>
          <a:prstGeom prst="rect">
            <a:avLst/>
          </a:prstGeom>
          <a:solidFill>
            <a:srgbClr val="075985"/>
          </a:solidFill>
          <a:ln/>
        </p:spPr>
      </p:sp>
      <p:sp>
        <p:nvSpPr>
          <p:cNvPr id="21" name="Text 19"/>
          <p:cNvSpPr/>
          <p:nvPr/>
        </p:nvSpPr>
        <p:spPr>
          <a:xfrm>
            <a:off x="6903720" y="1005840"/>
            <a:ext cx="1874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4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903720" y="1216152"/>
            <a:ext cx="18745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 &amp; Iterate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7040880" y="1600200"/>
            <a:ext cx="1600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 usage feedback</a:t>
            </a:r>
            <a:endParaRPr lang="en-US" sz="10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Iterate on AGENTS.md</a:t>
            </a:r>
            <a:endParaRPr lang="en-US" sz="10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Consider MCP &amp; CI hooks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31520" y="3840480"/>
            <a:ext cx="7680960" cy="118872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25" name="Text 23"/>
          <p:cNvSpPr/>
          <p:nvPr/>
        </p:nvSpPr>
        <p:spPr>
          <a:xfrm>
            <a:off x="914400" y="3931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STARTER TEMPLATES EVERY TEAM SHOULD HAVE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914400" y="4206240"/>
            <a:ext cx="7315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AGENTS.md + docs/ — Team standards + indexed details</a:t>
            </a:r>
            <a:endParaRPr lang="en-US" sz="11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.github/agents/code-reviewer.agent.md — Quality review specialist</a:t>
            </a:r>
            <a:endParaRPr lang="en-US" sz="11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.github/skills/pr-review/SKILL.md — PR review checklist</a:t>
            </a:r>
            <a:endParaRPr lang="en-US" sz="11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F17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EA5E9"/>
          </a:solidFill>
          <a:ln/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23360" y="1005840"/>
            <a:ext cx="640080" cy="64008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14400" y="1783080"/>
            <a:ext cx="7315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Start Building</a:t>
            </a:r>
            <a:endParaRPr lang="en-US" sz="36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Your Team's AI System</a:t>
            </a:r>
            <a:endParaRPr lang="en-US" sz="3600" dirty="0"/>
          </a:p>
        </p:txBody>
      </p:sp>
      <p:sp>
        <p:nvSpPr>
          <p:cNvPr id="5" name="Text 2"/>
          <p:cNvSpPr/>
          <p:nvPr/>
        </p:nvSpPr>
        <p:spPr>
          <a:xfrm>
            <a:off x="914400" y="320040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1600" i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engineers don't need to learn prompts.</a:t>
            </a:r>
            <a:endParaRPr lang="en-US" sz="1600" dirty="0"/>
          </a:p>
          <a:p>
            <a:pPr algn="ctr" indent="0" marL="0">
              <a:lnSpc>
                <a:spcPct val="140000"/>
              </a:lnSpc>
              <a:buNone/>
            </a:pPr>
            <a:r>
              <a:rPr lang="en-US" sz="1600" i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need you to set up the system.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914400" y="429768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Questions?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AI-Augmented Engineering Workshop v3</dc:title>
  <dc:subject>PptxGenJS Presentation</dc:subject>
  <dc:creator>AI Workshop Team</dc:creator>
  <cp:lastModifiedBy>AI Workshop Team</cp:lastModifiedBy>
  <cp:revision>1</cp:revision>
  <dcterms:created xsi:type="dcterms:W3CDTF">2026-04-13T05:38:43Z</dcterms:created>
  <dcterms:modified xsi:type="dcterms:W3CDTF">2026-04-13T05:38:43Z</dcterms:modified>
</cp:coreProperties>
</file>