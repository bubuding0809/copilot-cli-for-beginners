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9" r:id="rId30"/>
    <p:sldId id="272" r:id="rId18"/>
    <p:sldId id="273" r:id="rId19"/>
    <p:sldId id="274" r:id="rId20"/>
    <p:sldId id="275" r:id="rId21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4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972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73736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AI-Augmented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Engineering Workshop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31520" y="3291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autocomplete to delegatable specialist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731520" y="4023360"/>
            <a:ext cx="4572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On-site  ·  Hands-on  ·  ~3 hours  ·  AI Champions &amp; Team Leads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Mindset Shift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36576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97280"/>
            <a:ext cx="365760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2801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1645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writes code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AI suggests autocomplete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Developer accepts/rejects</a:t>
            </a:r>
            <a:endParaRPr lang="en-US" sz="13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1691640"/>
            <a:ext cx="411480" cy="4114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754880" y="1097280"/>
            <a:ext cx="36576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1097280"/>
            <a:ext cx="36576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0" y="12801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029200" y="16459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sets up the system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Engineer describes the problem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AI executes with team standards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Engineer reviews &amp; approves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31520" y="3108960"/>
            <a:ext cx="7680960" cy="1463040"/>
          </a:xfrm>
          <a:prstGeom prst="rect">
            <a:avLst/>
          </a:prstGeom>
          <a:solidFill>
            <a:srgbClr val="1E293B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383280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00200" y="3383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1097280" y="379476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not a typing assistant. It is a junior team member that follows your standards, uses your tools, and gets better the more structure you give it.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You'll Walk Away With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51560"/>
            <a:ext cx="64008" cy="59436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170432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05156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Understood the 6 pillars of agentic AI tooling and how they compose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178308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1783080"/>
            <a:ext cx="64008" cy="59436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901952"/>
            <a:ext cx="347472" cy="3474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54480" y="178308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Experienced each pillar hands-on with concrete C# / TypeScript examples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731520" y="251460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31520" y="2514600"/>
            <a:ext cx="64008" cy="59436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633472"/>
            <a:ext cx="347472" cy="34747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54480" y="251460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working skill for your team — not a concept, a real artifact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731520" y="324612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31520" y="3246120"/>
            <a:ext cx="64008" cy="59436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364992"/>
            <a:ext cx="347472" cy="34747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54480" y="32461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the AI workflow your engineers will actually use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731520" y="397764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731520" y="3977640"/>
            <a:ext cx="64008" cy="59436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4096512"/>
            <a:ext cx="347472" cy="34747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554480" y="397764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 a playbook for rolling this out to your engineering team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Agenda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960120"/>
          <a:ext cx="7680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51206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 plugin → run code review PR live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&amp; Commands — Quick Start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 Files + Indexing Pattern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+ Sub-Agent Orchestration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Skills — Why, What, Code Review Showcase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Choices (MCP vs CLI Skill)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a plugin ties it all together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Capstone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Fork the template, ship 1 skill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Rollout playbook + Q&amp;A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4572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~3h 10m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Opening: See It All At Once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install a plugin, then run it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0" y="1371600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132588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'code-review' plugin from VS Code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344168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9" name="Text 7"/>
          <p:cNvSpPr/>
          <p:nvPr/>
        </p:nvSpPr>
        <p:spPr>
          <a:xfrm>
            <a:off x="4983480" y="13441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agent · 6 skills · ADO MCP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14400" y="1901952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1901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63040" y="1856232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Copilot CLI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846320" y="1874520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4" name="Text 12"/>
          <p:cNvSpPr/>
          <p:nvPr/>
        </p:nvSpPr>
        <p:spPr>
          <a:xfrm>
            <a:off x="4983480" y="187452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14400" y="2432304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2432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63040" y="2386584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Invoke the code review agent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46320" y="2404872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9" name="Text 17"/>
          <p:cNvSpPr/>
          <p:nvPr/>
        </p:nvSpPr>
        <p:spPr>
          <a:xfrm>
            <a:off x="4983480" y="240487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code review PR #1234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14400" y="2962656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29626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63040" y="291693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fetches PR via ADO MCP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846320" y="2935224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4" name="Text 22"/>
          <p:cNvSpPr/>
          <p:nvPr/>
        </p:nvSpPr>
        <p:spPr>
          <a:xfrm>
            <a:off x="4983480" y="293522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(loads policies, inspects diff)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4400" y="3493008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3493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463040" y="3447288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Sub-agents run in parallel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846320" y="3465576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9" name="Text 27"/>
          <p:cNvSpPr/>
          <p:nvPr/>
        </p:nvSpPr>
        <p:spPr>
          <a:xfrm>
            <a:off x="4983480" y="346557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security · quality · performance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14400" y="4023360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463040" y="397764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comments posted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846320" y="3995928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4" name="Text 32"/>
          <p:cNvSpPr/>
          <p:nvPr/>
        </p:nvSpPr>
        <p:spPr>
          <a:xfrm>
            <a:off x="4983480" y="39959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threaded at file:line in ADO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31520" y="4526280"/>
            <a:ext cx="7680960" cy="5029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6" name="Text 34"/>
          <p:cNvSpPr/>
          <p:nvPr/>
        </p:nvSpPr>
        <p:spPr>
          <a:xfrm>
            <a:off x="914400" y="45262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install → one command → all six pillars in motion.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Context &amp; Commands — Quick Start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basics: how to talk to AI and direct it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37490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63040"/>
            <a:ext cx="64008" cy="27432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600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ESSENTIALS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92024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@file.cs, @folder/ — reference files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/plan — think before coding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/review — check before committing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/research — understand before building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auto-save &amp; resume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463040"/>
            <a:ext cx="3749040" cy="2743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600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37760" y="196596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@BooksController.cs What does GetByAuthor do?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"Partial names return no results. Debug."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/plan Fix GetByAuthor search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/context</a:t>
            </a:r>
            <a:endParaRPr lang="en-US" sz="11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434840"/>
            <a:ext cx="274320" cy="27432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097280" y="44348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it for the basics. Deeper agent patterns coming in Pillar 3.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Instruction Files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rules for every session — the team lead multiplier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7680960" cy="9144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1463040"/>
            <a:ext cx="64008" cy="9144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0876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write your coding standards once in AGENTS.md. Every session in your repo follows them — for new hires, contractors, and senior engineers alike."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60604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at repo root = always-on for every session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/init generates a starter file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needs to invoke it — automatic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team standards without policing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0" y="2606040"/>
            <a:ext cx="3383280" cy="16459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5212080" y="2697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212080" y="297180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/init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Edit AGENTS.md: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"C# backend: use nullable refs"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"TS frontend: strict mode always"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"Conventional commits required"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@BooksController.cs Review this</a:t>
            </a:r>
            <a:endParaRPr lang="en-US" sz="10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434840"/>
            <a:ext cx="274320" cy="27432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097280" y="44348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Highest-leverage thing a team lead can set up. 5 min of writing, permanent impact.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2 (cont.)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Scaling with the Indexing Pattern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complex projects: AGENTS.md as the table of contents, docs/ as the detail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65760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17320"/>
            <a:ext cx="36576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60120" y="18288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AGENTS.md can't capture everything about a real project — architecture, API conventions, deployment, security, domain logic.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29718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60120" y="324612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becomes an index — a short file that points to detailed docs in docs/. AI loads the index always, detail docs only when needed.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3749040" cy="30175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3" name="Text 11"/>
          <p:cNvSpPr/>
          <p:nvPr/>
        </p:nvSpPr>
        <p:spPr>
          <a:xfrm>
            <a:off x="4892040" y="15087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STRUCTURE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92040" y="178308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your-repo/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AGENTS.md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(index → points to docs)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docs/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architecture.md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csharp-conventions.md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typescript-style.md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api-design.md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deployment.md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src/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...</a:t>
            </a:r>
            <a:endParaRPr lang="en-US" sz="1100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572000"/>
            <a:ext cx="274320" cy="2743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097280" y="45720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AGENTS.md short. Let it point. Detail docs stay discoverable but don't bloat context.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specialists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74904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17320"/>
            <a:ext cx="374904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PROMPT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8288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"Review @BooksController.cs"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Broad, generic suggestions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No team conventions applied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374904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417320"/>
            <a:ext cx="3749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AGENT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37760" y="18288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code review PR #1234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Intake → Phase 2: Load policies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Sub-agents run in parallel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 Phase 4: Inline comments posted to ADO PR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154680"/>
            <a:ext cx="7680960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154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files set the floor.  Agents raise the ceiling.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" y="3794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OWN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4069080"/>
            <a:ext cx="7680960" cy="9601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11480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.github/agents/code-reviewer.agent.md</a:t>
            </a:r>
            <a:r>
              <a:rPr lang="en-US" sz="1000" i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← project scope · committed · team-shared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~/.copilot/agents/code-reviewer.agent.md</a:t>
            </a:r>
            <a:r>
              <a:rPr lang="en-US" sz="1000" i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← user scope · personal · all your repos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"Policy-driven code review"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Triggers: "code review", "review PR", "review my changes"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3 (cont.)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Advanced: Sub-Agent Orchestration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calling agents — exactly as the code-review plugin does for 4+ policies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7680960" cy="16459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508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TYPICAL ORCHESTRATION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1874520"/>
            <a:ext cx="1554480" cy="105156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1874520"/>
            <a:ext cx="155448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9659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14400" y="2194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code-reviewer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(fetches diff)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26060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PR number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Dispatches policies</a:t>
            </a:r>
            <a:endParaRPr lang="en-US" sz="9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0" y="2331720"/>
            <a:ext cx="228600" cy="2286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2880360" y="1874520"/>
            <a:ext cx="1737360" cy="105156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5" name="Shape 12"/>
          <p:cNvSpPr/>
          <p:nvPr/>
        </p:nvSpPr>
        <p:spPr>
          <a:xfrm>
            <a:off x="2880360" y="1874520"/>
            <a:ext cx="1737360" cy="5486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6" name="Text 13"/>
          <p:cNvSpPr/>
          <p:nvPr/>
        </p:nvSpPr>
        <p:spPr>
          <a:xfrm>
            <a:off x="2880360" y="196596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2880360" y="2194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880360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hims-ads checks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709160" y="1874520"/>
            <a:ext cx="1737360" cy="105156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0" name="Shape 17"/>
          <p:cNvSpPr/>
          <p:nvPr/>
        </p:nvSpPr>
        <p:spPr>
          <a:xfrm>
            <a:off x="4709160" y="1874520"/>
            <a:ext cx="1737360" cy="5486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1" name="Text 18"/>
          <p:cNvSpPr/>
          <p:nvPr/>
        </p:nvSpPr>
        <p:spPr>
          <a:xfrm>
            <a:off x="4709160" y="196596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4709160" y="2194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709160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best-practices + design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6537960" y="1874520"/>
            <a:ext cx="1737360" cy="105156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5" name="Shape 22"/>
          <p:cNvSpPr/>
          <p:nvPr/>
        </p:nvSpPr>
        <p:spPr>
          <a:xfrm>
            <a:off x="6537960" y="1874520"/>
            <a:ext cx="1737360" cy="5486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6" name="Text 23"/>
          <p:cNvSpPr/>
          <p:nvPr/>
        </p:nvSpPr>
        <p:spPr>
          <a:xfrm>
            <a:off x="6537960" y="196596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537960" y="2194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537960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 + DB + memory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31520" y="3200400"/>
            <a:ext cx="374904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" y="3200400"/>
            <a:ext cx="374904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1" name="Text 28"/>
          <p:cNvSpPr/>
          <p:nvPr/>
        </p:nvSpPr>
        <p:spPr>
          <a:xfrm>
            <a:off x="1005840" y="33375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1005840" y="35661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isolation — each policy sees only its checks/*.md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Specialization — domain expertise per policy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Parallelism — 4+ policies run concurrently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4663440" y="3200400"/>
            <a:ext cx="374904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663440" y="3200400"/>
            <a:ext cx="3749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5" name="Text 32"/>
          <p:cNvSpPr/>
          <p:nvPr/>
        </p:nvSpPr>
        <p:spPr>
          <a:xfrm>
            <a:off x="4937760" y="33375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REACH FOR IT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4937760" y="35661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workflows that span domains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too large for one agent's context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want reusable, composable specialists</a:t>
            </a:r>
            <a:endParaRPr lang="en-US" sz="1100" dirty="0"/>
          </a:p>
        </p:txBody>
      </p:sp>
      <p:pic>
        <p:nvPicPr>
          <p:cNvPr id="3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0"/>
            <a:ext cx="274320" cy="274320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1097280" y="45720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code-review plugin README — "Subagent orchestration" section — for the actual orchestration logic.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4  |  Part 1 of 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Skills?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learn what skills are, let's be clear on what they solve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7490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17320"/>
            <a:ext cx="374904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POINTS TODAY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82880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re-explain team conventions in every session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reviews skip steps when reviewers are busy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response runs differently every time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docs go stale while tribal knowledge lives in heads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task, different quality — depends who's on 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37490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417320"/>
            <a:ext cx="3749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SKILLS SOLVE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37760" y="182880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the procedure once, in a markdown file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Auto-trigger when AI detects the task — no invocation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quality every time, for every team member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Version-controlled, reviewable, improvable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Tribal knowledge becomes team infrastructure</a:t>
            </a:r>
            <a:endParaRPr lang="en-US" sz="12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663440"/>
            <a:ext cx="274320" cy="27432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097280" y="46634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team does it more than twice — it's probably a skill.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4  |  Part 2 of 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 — What &amp; How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🚧 PLACEHOLDER — content to be replaced with new material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417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change who the AI is.  Skills change how it does a specific task.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057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SKILL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2331720"/>
            <a:ext cx="4572000" cy="23774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377440"/>
            <a:ext cx="4206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.github/skills/design-patterns/SKILL.md</a:t>
            </a:r>
            <a:r>
              <a:rPr lang="en-US" sz="900" i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← project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~/.copilot/skills/design-patterns/SKILL.md</a:t>
            </a:r>
            <a:r>
              <a:rPr lang="en-US" sz="900" i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← user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design-patterns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"Design-pattern review — arch &amp; anti-pattern"</a:t>
            </a:r>
            <a:endParaRPr lang="en-US" sz="1000" dirty="0"/>
          </a:p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← matched against user's prompt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Inputs · Activation · Severity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Inputs: architecture type, language, focus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Activation: per arch (microservices, event-driven …)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Severity: CRITICAL / HIGH / MEDIUM / INFO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 index → checks/dp-*.md (creational, structural …)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577840" y="2331720"/>
            <a:ext cx="28346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577840" y="2331720"/>
            <a:ext cx="64008" cy="237744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3" name="Text 11"/>
          <p:cNvSpPr/>
          <p:nvPr/>
        </p:nvSpPr>
        <p:spPr>
          <a:xfrm>
            <a:off x="5806440" y="2468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Auto-Triggering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806440" y="27889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matches your prompt against each skill's description.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06440" y="3520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triggering prompts: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806440" y="379476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"design pattern review"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"architectural review"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"anti-pattern check"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4  |  Part 3 of 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 in Action: Code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demo, replayed — every step was a pillar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14173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280160" y="155448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1280160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1965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 PR #1234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228600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5 — ADO MCP fetches PR</a:t>
            </a:r>
            <a:endParaRPr lang="en-US" sz="9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2148840"/>
            <a:ext cx="155448" cy="15544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2304288" y="1417320"/>
            <a:ext cx="14173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852928" y="155448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1"/>
          <p:cNvSpPr/>
          <p:nvPr/>
        </p:nvSpPr>
        <p:spPr>
          <a:xfrm>
            <a:off x="2852928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395728" y="1965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 PR #1234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395728" y="228600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3 — agent trigger</a:t>
            </a:r>
            <a:endParaRPr lang="en-US" sz="90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1608" y="2148840"/>
            <a:ext cx="155448" cy="15544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3877056" y="1417320"/>
            <a:ext cx="14173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425696" y="155448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0" name="Text 16"/>
          <p:cNvSpPr/>
          <p:nvPr/>
        </p:nvSpPr>
        <p:spPr>
          <a:xfrm>
            <a:off x="4425696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3968496" y="1965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design-patterns auto-loads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968496" y="228600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4 — skill auto-loads</a:t>
            </a:r>
            <a:endParaRPr lang="en-US" sz="900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4376" y="2148840"/>
            <a:ext cx="155448" cy="155448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449824" y="1417320"/>
            <a:ext cx="14173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5998464" y="155448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6" name="Text 21"/>
          <p:cNvSpPr/>
          <p:nvPr/>
        </p:nvSpPr>
        <p:spPr>
          <a:xfrm>
            <a:off x="5998464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5541264" y="1965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sub-agents run in parallel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5541264" y="228600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3 — 3 policies concurrently</a:t>
            </a:r>
            <a:endParaRPr lang="en-US" sz="900" dirty="0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7144" y="2148840"/>
            <a:ext cx="155448" cy="15544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7022592" y="1417320"/>
            <a:ext cx="14173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7571232" y="155448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32" name="Text 26"/>
          <p:cNvSpPr/>
          <p:nvPr/>
        </p:nvSpPr>
        <p:spPr>
          <a:xfrm>
            <a:off x="7571232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7114032" y="1965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comments + summary</a:t>
            </a:r>
            <a:endParaRPr lang="en-US" sz="1200" dirty="0"/>
          </a:p>
        </p:txBody>
      </p:sp>
      <p:sp>
        <p:nvSpPr>
          <p:cNvPr id="34" name="Text 28"/>
          <p:cNvSpPr/>
          <p:nvPr/>
        </p:nvSpPr>
        <p:spPr>
          <a:xfrm>
            <a:off x="7114032" y="228600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4 — reporting skill formats output</a:t>
            </a:r>
            <a:endParaRPr lang="en-US" sz="900" dirty="0"/>
          </a:p>
        </p:txBody>
      </p:sp>
      <p:sp>
        <p:nvSpPr>
          <p:cNvPr id="35" name="Shape 29"/>
          <p:cNvSpPr/>
          <p:nvPr/>
        </p:nvSpPr>
        <p:spPr>
          <a:xfrm>
            <a:off x="731520" y="3383280"/>
            <a:ext cx="37490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0"/>
          <p:cNvSpPr/>
          <p:nvPr/>
        </p:nvSpPr>
        <p:spPr>
          <a:xfrm>
            <a:off x="731520" y="3383280"/>
            <a:ext cx="3749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7" name="Text 31"/>
          <p:cNvSpPr/>
          <p:nvPr/>
        </p:nvSpPr>
        <p:spPr>
          <a:xfrm>
            <a:off x="1005840" y="34930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ENFORCEMENT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1005840" y="370332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hims-ads-code-review-policy checks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design-patterns + general-best-practices checks</a:t>
            </a:r>
            <a:endParaRPr lang="en-US" sz="1100" dirty="0"/>
          </a:p>
        </p:txBody>
      </p:sp>
      <p:sp>
        <p:nvSpPr>
          <p:cNvPr id="39" name="Shape 33"/>
          <p:cNvSpPr/>
          <p:nvPr/>
        </p:nvSpPr>
        <p:spPr>
          <a:xfrm>
            <a:off x="4663440" y="3383280"/>
            <a:ext cx="37490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0" name="Shape 34"/>
          <p:cNvSpPr/>
          <p:nvPr/>
        </p:nvSpPr>
        <p:spPr>
          <a:xfrm>
            <a:off x="4663440" y="3383280"/>
            <a:ext cx="374904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1" name="Text 35"/>
          <p:cNvSpPr/>
          <p:nvPr/>
        </p:nvSpPr>
        <p:spPr>
          <a:xfrm>
            <a:off x="4937760" y="34930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OUTPUT</a:t>
            </a:r>
            <a:endParaRPr lang="en-US" sz="1000" dirty="0"/>
          </a:p>
        </p:txBody>
      </p:sp>
      <p:sp>
        <p:nvSpPr>
          <p:cNvPr id="42" name="Text 36"/>
          <p:cNvSpPr/>
          <p:nvPr/>
        </p:nvSpPr>
        <p:spPr>
          <a:xfrm>
            <a:off x="4937760" y="370332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Threaded comments at file:line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Severity-ranked summary in PR</a:t>
            </a:r>
            <a:endParaRPr lang="en-US" sz="1100" dirty="0"/>
          </a:p>
        </p:txBody>
      </p:sp>
      <p:sp>
        <p:nvSpPr>
          <p:cNvPr id="43" name="Shape 37"/>
          <p:cNvSpPr/>
          <p:nvPr/>
        </p:nvSpPr>
        <p:spPr>
          <a:xfrm>
            <a:off x="731520" y="4526280"/>
            <a:ext cx="768096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4" name="Shape 38"/>
          <p:cNvSpPr/>
          <p:nvPr/>
        </p:nvSpPr>
        <p:spPr>
          <a:xfrm>
            <a:off x="731520" y="4526280"/>
            <a:ext cx="64008" cy="5029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45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599432"/>
            <a:ext cx="274320" cy="274320"/>
          </a:xfrm>
          <a:prstGeom prst="rect">
            <a:avLst/>
          </a:prstGeom>
        </p:spPr>
      </p:pic>
      <p:sp>
        <p:nvSpPr>
          <p:cNvPr id="46" name="Text 39"/>
          <p:cNvSpPr/>
          <p:nvPr/>
        </p:nvSpPr>
        <p:spPr>
          <a:xfrm>
            <a:off x="1280160" y="455371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MCP, NOT az CLI</a:t>
            </a:r>
            <a:endParaRPr lang="en-US" sz="900" dirty="0"/>
          </a:p>
        </p:txBody>
      </p:sp>
      <p:sp>
        <p:nvSpPr>
          <p:cNvPr id="47" name="Text 40"/>
          <p:cNvSpPr/>
          <p:nvPr/>
        </p:nvSpPr>
        <p:spPr>
          <a:xfrm>
            <a:off x="1280160" y="473659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threaded comments need the ADO REST API. The MCP handles it — the plugin bundles this wiring.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4  |  Part 4 of 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Showcase: Checkmarx Remediation Skill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domain, same structure — see gep_skills/security/ for checkmarx-* skills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7680960" cy="822960"/>
          </a:xfrm>
          <a:prstGeom prst="rect">
            <a:avLst/>
          </a:prstGeom>
          <a:solidFill>
            <a:srgbClr val="1E293B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6459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15087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417320" y="17373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Checkmarx scan returns 12 findings across your C# backend. Engineer faces a wall of SAST output — severity mixed, context missing, fixes unclear.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31520" y="2423160"/>
            <a:ext cx="18288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463040" y="256032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9"/>
          <p:cNvSpPr/>
          <p:nvPr/>
        </p:nvSpPr>
        <p:spPr>
          <a:xfrm>
            <a:off x="1463040" y="2560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2296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report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22960" y="324612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reads Checkmarx output</a:t>
            </a:r>
            <a:endParaRPr lang="en-US" sz="100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063240"/>
            <a:ext cx="155448" cy="15544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2697480" y="2423160"/>
            <a:ext cx="18288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429000" y="256032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8" name="Text 14"/>
          <p:cNvSpPr/>
          <p:nvPr/>
        </p:nvSpPr>
        <p:spPr>
          <a:xfrm>
            <a:off x="3429000" y="2560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278892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788920" y="324612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by severity + exploitability</a:t>
            </a:r>
            <a:endParaRPr lang="en-US" sz="100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3063240"/>
            <a:ext cx="155448" cy="155448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4663440" y="2423160"/>
            <a:ext cx="18288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394960" y="256032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4" name="Text 19"/>
          <p:cNvSpPr/>
          <p:nvPr/>
        </p:nvSpPr>
        <p:spPr>
          <a:xfrm>
            <a:off x="5394960" y="2560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475488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fixes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4754880" y="324612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Per-finding, code-aware</a:t>
            </a:r>
            <a:endParaRPr lang="en-US" sz="100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3063240"/>
            <a:ext cx="155448" cy="155448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6629400" y="2423160"/>
            <a:ext cx="18288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7360920" y="256032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30" name="Text 24"/>
          <p:cNvSpPr/>
          <p:nvPr/>
        </p:nvSpPr>
        <p:spPr>
          <a:xfrm>
            <a:off x="7360920" y="2560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672084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200" dirty="0"/>
          </a:p>
        </p:txBody>
      </p:sp>
      <p:sp>
        <p:nvSpPr>
          <p:cNvPr id="32" name="Text 26"/>
          <p:cNvSpPr/>
          <p:nvPr/>
        </p:nvSpPr>
        <p:spPr>
          <a:xfrm>
            <a:off x="6720840" y="324612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 each fix matches policy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731520" y="4023360"/>
            <a:ext cx="7680960" cy="77724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160520"/>
            <a:ext cx="320040" cy="32004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1371600" y="41148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LEAD ANGLE</a:t>
            </a:r>
            <a:endParaRPr lang="en-US" sz="1000" dirty="0"/>
          </a:p>
        </p:txBody>
      </p:sp>
      <p:sp>
        <p:nvSpPr>
          <p:cNvPr id="36" name="Text 29"/>
          <p:cNvSpPr/>
          <p:nvPr/>
        </p:nvSpPr>
        <p:spPr>
          <a:xfrm>
            <a:off x="1371600" y="434340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security team's expertise becomes a shareable skill. Every engineer handles Checkmarx findings the same way — your way.</a:t>
            </a:r>
            <a:endParaRPr lang="en-US" sz="1200" dirty="0"/>
          </a:p>
        </p:txBody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4846320"/>
            <a:ext cx="274320" cy="274320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1097280" y="484632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pattern as code-review — different domain. Skills compose, don't multiply complexity.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Integration Choices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connect AI to Azure DevOps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37490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371600"/>
            <a:ext cx="3749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087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SKILL (RECOMMENDED)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78308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on-demand — context stays clean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az CLI under the hood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Covers: work items, PRs, pipelines, wiki,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releases, artifacts, security/admin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Install: npx skills add ... azure-devops-cli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371600"/>
            <a:ext cx="37490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371600"/>
            <a:ext cx="374904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5087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37760" y="178308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tools registered at startup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Rich: test plans, code search,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advanced security alerts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bundles it — just 6 lines in .mcp.json: { "azure-devops": "@azure-devops/mcp IHIS-HIP" }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Microsoft-maintained · zero manual setup when bundled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3977640"/>
            <a:ext cx="7680960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977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Skill = occasional ADO during coding  |  MCP = heavy, continuous ADO interaction</a:t>
            </a:r>
            <a:endParaRPr lang="en-US" sz="1200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572000"/>
            <a:ext cx="274320" cy="27432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097280" y="45720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Plugins declare MCP in .mcp.json — engineers install once, MCP wires automatically.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 |  Setup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Let's Work on a Real Project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960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the demo repo. Run it. Everything that follows happens on real code.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4846320" cy="338328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508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COMMANDS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1828800"/>
            <a:ext cx="46634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Clone the demo repo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&lt;demo-repo&gt; &amp;&amp; cd demo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Install dependencies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      # frontend (TS)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restore    # backend (C#)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Authenticate with ADO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login --use-device-code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Start Copilot + open VS Code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   # + VS Code with Copilot extension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60720" y="1417320"/>
            <a:ext cx="2651760" cy="338328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600200"/>
            <a:ext cx="365760" cy="3657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1600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REAL REPO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943600" y="2103120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Text-only examples teach concepts.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code teaches judgment.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reads your actual files, your actual conventions, your actual bugs.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Design + Build a Plugin — Together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minutes  ·  Facilitator-led  ·  You leave with a working artifact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459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18745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one real plugin together — skill(s) + agent + MCP wiring, composed via the VS Code plugin UI.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end: your repo has a plugin that can be installed, used, and shared with teammates.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651760"/>
            <a:ext cx="2514600" cy="192024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2651760"/>
            <a:ext cx="25146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1" name="Shape 9"/>
          <p:cNvSpPr/>
          <p:nvPr/>
        </p:nvSpPr>
        <p:spPr>
          <a:xfrm>
            <a:off x="868680" y="283464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834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80160" y="2834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3246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8680" y="35204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workflow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the skill(s)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the agent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29000" y="2651760"/>
            <a:ext cx="2514600" cy="192024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7" name="Shape 15"/>
          <p:cNvSpPr/>
          <p:nvPr/>
        </p:nvSpPr>
        <p:spPr>
          <a:xfrm>
            <a:off x="3429000" y="2651760"/>
            <a:ext cx="25146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8" name="Shape 16"/>
          <p:cNvSpPr/>
          <p:nvPr/>
        </p:nvSpPr>
        <p:spPr>
          <a:xfrm>
            <a:off x="3566160" y="283464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9" name="Text 17"/>
          <p:cNvSpPr/>
          <p:nvPr/>
        </p:nvSpPr>
        <p:spPr>
          <a:xfrm>
            <a:off x="3566160" y="2834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77640" y="2834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pieces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66160" y="3246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566160" y="35204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skill(s)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agent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required MCPs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26480" y="2651760"/>
            <a:ext cx="2514600" cy="192024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4" name="Shape 22"/>
          <p:cNvSpPr/>
          <p:nvPr/>
        </p:nvSpPr>
        <p:spPr>
          <a:xfrm>
            <a:off x="6126480" y="2651760"/>
            <a:ext cx="25146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5" name="Shape 23"/>
          <p:cNvSpPr/>
          <p:nvPr/>
        </p:nvSpPr>
        <p:spPr>
          <a:xfrm>
            <a:off x="6263640" y="283464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6" name="Text 24"/>
          <p:cNvSpPr/>
          <p:nvPr/>
        </p:nvSpPr>
        <p:spPr>
          <a:xfrm>
            <a:off x="6263640" y="2834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75120" y="2834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+ Test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263640" y="3246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63640" y="35204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via VS Code UI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test end-to-end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if needed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31520" y="47091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home: a working plugin, a pattern to replicate, the confidence to create more.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 |  Phase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Plugin-Creator Moment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build together — what workflow would YOUR team benefit from most?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7490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17320"/>
            <a:ext cx="374904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YOURSELF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82880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I explain to new engineers repeatedly?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checklist do I mentally run every PR?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task always gets done differently by different people?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I wish happened automatically?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procedure lives only in my head?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37490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417320"/>
            <a:ext cx="3749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EXAMPLES FROM OTHER TEAMS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37760" y="182880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pr-review — team's PR quality checklist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checkmarx-remediation — SAST findings to fixes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incident-response — triage steps + comms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api-design — REST convention enforcement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migration-checklist — safe DB migrations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onboarding-tour — explain the codebase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4663440"/>
            <a:ext cx="7680960" cy="3657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663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idea down. We'll build one plugin together — you'll leave knowing how to build yours.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 |  Build + Package + Test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Build the Plugin Together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 leads.  You follow on your cloned repo.  Ask questions freely.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7680960" cy="118872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508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BUILDING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17373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plugin (topic is yours) with one skill + one agent + its MCP deps,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composed via the VS Code plugin UI. Facilitator-paced — follow along.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788920"/>
            <a:ext cx="7680960" cy="182880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8803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STEPS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315468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Plan the internal workflow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Write the skill(s) that encode the procedure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Write the agent that invokes them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Identify required MCPs + wire them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VS Code UI → Compose plugin (select agents/skills/MCPs)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E2E test the packaged plugin in a fresh session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47548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a packaged plugin — installable, shareable, ready for your team.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Rollout Playbook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187452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05840"/>
            <a:ext cx="1874520" cy="4572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216152"/>
            <a:ext cx="1874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160020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Copilot CLI · authenticate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team subscriptions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habits: /plan, /review, @file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repo's AGENTS.md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88920" y="1005840"/>
            <a:ext cx="187452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88920" y="1005840"/>
            <a:ext cx="1874520" cy="45720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1" name="Text 9"/>
          <p:cNvSpPr/>
          <p:nvPr/>
        </p:nvSpPr>
        <p:spPr>
          <a:xfrm>
            <a:off x="2788920" y="100584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88920" y="1216152"/>
            <a:ext cx="1874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+ Agents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926080" y="160020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1 procedure as a skill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user-scope, promote to .github/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in a specialist agent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46320" y="1005840"/>
            <a:ext cx="187452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46320" y="1005840"/>
            <a:ext cx="1874520" cy="4572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46320" y="1216152"/>
            <a:ext cx="1874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83480" y="160020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1 MCP team needs (ADO / Jira / DB)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agents &amp; skills to live data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end-to-end with real tasks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03720" y="1005840"/>
            <a:ext cx="187452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903720" y="1005840"/>
            <a:ext cx="1874520" cy="457200"/>
          </a:xfrm>
          <a:prstGeom prst="rect">
            <a:avLst/>
          </a:prstGeom>
          <a:solidFill>
            <a:srgbClr val="075985"/>
          </a:solidFill>
          <a:ln/>
        </p:spPr>
      </p:sp>
      <p:sp>
        <p:nvSpPr>
          <p:cNvPr id="21" name="Text 19"/>
          <p:cNvSpPr/>
          <p:nvPr/>
        </p:nvSpPr>
        <p:spPr>
          <a:xfrm>
            <a:off x="6903720" y="100584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903720" y="1216152"/>
            <a:ext cx="1874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Plugins &amp; Distribution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040880" y="160020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agent + skills + MCP via VS Code UI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internally — one install for all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Stretch: copilot -p "…" in CI pipelines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1520" y="3840480"/>
            <a:ext cx="7680960" cy="11887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3931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STARTER TEMPLATES EVERY TEAM SHOULD HAVE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14400" y="420624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AGENTS.md + docs/ — Team standards + indexed details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.github/skills/&lt;name&gt;/SKILL.md — One encoded procedure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Your team's plugin — bundled agent + skills + MCP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1005840"/>
            <a:ext cx="640080" cy="640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78308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Start Building</a:t>
            </a:r>
            <a:endParaRPr lang="en-US" sz="3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Team's AI System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914400" y="32004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6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engineers don't need to learn prompts.</a:t>
            </a:r>
            <a:endParaRPr lang="en-US" sz="16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6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need you to set up the system.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914400" y="4297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This IS the mental model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plugin.json — every pillar in one file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65760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17320"/>
            <a:ext cx="36576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MAPPING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60120" y="18288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"mcpServers" → Pillar 5 · "agents" → Pillar 3 · "skills" → Pillar 4 · triggers → Pillar 1 · SKILL.md + checks → Pillar 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29718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CLICKS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60120" y="324612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this JSON → engineers get agent + skills + MCP in one action. That's distribution. Bundle once, ship to every teammate.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3749040" cy="30175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3" name="Text 11"/>
          <p:cNvSpPr/>
          <p:nvPr/>
        </p:nvSpPr>
        <p:spPr>
          <a:xfrm>
            <a:off x="4892040" y="15087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plugin.json (real, from code-review plugin)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92040" y="178308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"name": "code-review",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"description": "Framework + policy plugins",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"mcpServers": ".mcp.json",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"agents": [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"./agents/code-reviewer.agent.md"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],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"skills": [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"./skills/design-patterns",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"./skills/hims-ads-policy", …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]}</a:t>
            </a:r>
            <a:endParaRPr lang="en-US" sz="1100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572000"/>
            <a:ext cx="274320" cy="2743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097280" y="45720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this JSON → everything shows up. That is distribution.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AI-Augmented Engineering Workshop v3</dc:title>
  <dc:subject>PptxGenJS Presentation</dc:subject>
  <dc:creator>AI Workshop Team</dc:creator>
  <cp:lastModifiedBy>AI Workshop Team</cp:lastModifiedBy>
  <cp:revision>1</cp:revision>
  <dcterms:created xsi:type="dcterms:W3CDTF">2026-04-13T05:38:43Z</dcterms:created>
  <dcterms:modified xsi:type="dcterms:W3CDTF">2026-04-13T05:38:43Z</dcterms:modified>
</cp:coreProperties>
</file>